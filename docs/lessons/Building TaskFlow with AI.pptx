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Plus Jakarta Sans" pitchFamily="34" charset="0"/>
      <p:regular r:id="rId32"/>
      <p:bold r:id="rId33"/>
    </p:embeddedFont>
    <p:embeddedFont>
      <p:font typeface="JetBrains Mono" panose="02000009000000000000" pitchFamily="49" charset="0"/>
      <p:regular r:id="rId34"/>
      <p:bold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sharing session, not a class: how the TaskFlow stack fits together, which helpers we used to improve the UI, and how the Claude setup keeps AI-assisted work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every new developer here. scripts/dev.sh starts all three server pieces: Postgres in Docker on host port 5433, Django on 8000 and Vite on 5173. The browser only ever calls localhost:5173, and Vite forwards anything under /api to Django.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 catches the cheap mistakes: a wrong status string, a missing field. The rule that types.ts mirrors the serializers is in the root CLAUDE.md, so Claude follows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runs the TypeScript compiler first, so a type error fails the build. Vitest reads its config from the same file. Playwright end-to-end tests run against a real API and a separate database through scripts/e2e.sh.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 Design colours come from theme tokens through theme.useToken(), never raw hex in components. The brand colour and the gradient live in preferences/brand.ts. docs/design-system.md writes all of this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from frontend/CLAUDE.md: every HTTP call goes through src/api/client.ts. Never create another Axios instance, or the token and refresh logic is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URL is state. If a user can bookmark it or press back, it belongs in the URL, not in component state. query.ts parses and validates the search params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three widths before calling UI work done: 390, 820 and 1440 pixels, with no horizontal scroll. The Playwright journeys include a mobile test that checks there is no horizontal scroll.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colour comes from Ant Design tokens, switching the algorithm repaints the whole app. Anything with a hard-coded colour would break in dark mode, which is why the design system bans raw hex in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chart in the bottom-right of the screenshot: the week labels read “M09 7”. The weekly chart formats dates with the browser’s Intl API, which has no good Khmer short month names. That is a real bug found while making this lesson. A good exercise is to fix it with dayjs, which already has the Khmer locale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 model is marked “do not change without discussion” in CLAUDE.md. Throttles: 10 login attempts and 30 refreshes per minute by default, set from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pin, wrap once, use m components. Timings come from shared tokens in lib/motion.ts. Users who turn on reduced motion in their operating system get instant changes. Tests run with reduced motion on, so numbers show their final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instructions and scripts an AI follows on your machine, so treat it like downloaded code. Its search script only reads local CSV files. Claude loads the skill automatically for UI work, or you can type /ui-ux-pro-max. Its results are suggestions; frontend/CLAUDE.md wins on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gallery component uses a different design system, copy the idea: the layout, the effect, the motion. Then build it with what your project already uses. The dot grid here takes its colours from Ant Design tokens, so it works in dark mode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written rules, helpers like these drift: every new screen picks its own colours and timings. The design system file makes the result repeatable, for people and for Claude. We learned this the hard way: the redesign took three rounds because no target was agreed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 introduced this folder; this slide shows it as it is today, including the ui-ux-pro-max skill. Note the difference between a rule and a hook: a rule is advice the model reads; a hook is a script the harness runs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/memory to open and edit these files from inside Claude Code, and /init to create a first one in a new repo. When you correct Claude twice about the same thing, that correction belongs in 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were checked against the official command list on the day this lesson was written. Commands change between versions, so /help is the source of truth on your machine. Other useful ones: /permissions, /resume, /config, /mcp, /hooks, /security-review.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command is just a markdown file: a description, an optional model, then numbered steps and a Never line. Cheap models for mechanical steps, stronger ones where judgment is needed. The /review name clash is real: consider renaming ours to /rules-review.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are things you trigger. Skills are knowledge Claude pulls in when the task matches the description. Write the description as the phrases a person would actually say, so it triggers at the right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“use the backend-reviewer agent on my changes”. Agents run in their own context and report back, so the main conversation stays small. Hooks are not suggestions: the harness runs them on every edit, and a non-zero exit blocks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prompt-master is a user-level skill on this machine, not part of the repo. Any good prompt template works the same way: context, task, constraints, done-when, stop conditions. Lesson 15 covers the anatomy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rows were checked against each tool’s official docs on the day this lesson was written. A dash means we did not confirm an equivalent. If your team uses several tools, an AGENTS.md file is read by more than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scripts work from any folder. check.sh keeps going after a failure and ends with RESULT: PASS or FAIL. The destructive commands have real uses, but say what they delete and get a yes before you run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takeaways, then open for questions. Good prompts to invite: which helper would you try first, and what rule would you add to your own 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1838"/>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1B1838"/>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1838"/>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1B1838"/>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38C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4338CA"/>
              </a:gs>
              <a:gs pos="55000">
                <a:srgbClr val="6D28D9"/>
              </a:gs>
              <a:gs pos="100000">
                <a:srgbClr val="A21CAF"/>
              </a:gs>
            </a:gsLst>
            <a:lin ang="2700000" scaled="0"/>
          </a:gradFill>
          <a:ln/>
        </p:spPr>
      </p:sp>
      <p:sp>
        <p:nvSpPr>
          <p:cNvPr id="3" name="Text 1"/>
          <p:cNvSpPr/>
          <p:nvPr/>
        </p:nvSpPr>
        <p:spPr>
          <a:xfrm>
            <a:off x="812800" y="188087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4DEFF"/>
                </a:solidFill>
                <a:latin typeface="Plus Jakarta Sans" pitchFamily="34" charset="0"/>
                <a:ea typeface="Plus Jakarta Sans" pitchFamily="34" charset="-122"/>
                <a:cs typeface="Plus Jakarta Sans" pitchFamily="34" charset="-120"/>
              </a:rPr>
              <a:t>SHARING SESSION · HOW WE USE AI</a:t>
            </a:r>
            <a:endParaRPr lang="en-US" sz="1400" dirty="0"/>
          </a:p>
        </p:txBody>
      </p:sp>
      <p:sp>
        <p:nvSpPr>
          <p:cNvPr id="4" name="Text 2"/>
          <p:cNvSpPr/>
          <p:nvPr>
            <p:ph type="title"/>
          </p:nvPr>
        </p:nvSpPr>
        <p:spPr>
          <a:xfrm>
            <a:off x="812800" y="2358390"/>
            <a:ext cx="6540500" cy="718820"/>
          </a:xfrm>
          <a:prstGeom prst="rect">
            <a:avLst/>
          </a:prstGeom>
          <a:noFill/>
          <a:ln/>
        </p:spPr>
        <p:txBody>
          <a:bodyPr wrap="square" lIns="0" tIns="0" rIns="0" bIns="0" rtlCol="0" anchor="t">
            <a:normAutofit/>
          </a:bodyPr>
          <a:lstStyle/>
          <a:p>
            <a:pPr algn="l" indent="0" marL="0">
              <a:lnSpc>
                <a:spcPts val="5460"/>
              </a:lnSpc>
              <a:buNone/>
            </a:pPr>
            <a:r>
              <a:rPr lang="en-US" sz="5200" b="1" i="0" spc="-150" kern="0" dirty="0">
                <a:solidFill>
                  <a:srgbClr val="FBFAFF"/>
                </a:solidFill>
                <a:latin typeface="Plus Jakarta Sans" pitchFamily="34" charset="0"/>
                <a:ea typeface="Plus Jakarta Sans" pitchFamily="34" charset="-122"/>
                <a:cs typeface="Plus Jakarta Sans" pitchFamily="34" charset="-120"/>
              </a:rPr>
              <a:t>The TaskFlow setup</a:t>
            </a:r>
            <a:endParaRPr lang="en-US" sz="5200" dirty="0"/>
          </a:p>
        </p:txBody>
      </p:sp>
      <p:sp>
        <p:nvSpPr>
          <p:cNvPr id="5" name="Text 3"/>
          <p:cNvSpPr/>
          <p:nvPr/>
        </p:nvSpPr>
        <p:spPr>
          <a:xfrm>
            <a:off x="812800" y="3280410"/>
            <a:ext cx="58864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DE9FF"/>
                </a:solidFill>
                <a:latin typeface="Plus Jakarta Sans" pitchFamily="34" charset="0"/>
                <a:ea typeface="Plus Jakarta Sans" pitchFamily="34" charset="-122"/>
                <a:cs typeface="Plus Jakarta Sans" pitchFamily="34" charset="-120"/>
              </a:rPr>
              <a:t>The stack, three helpers to level up the UI, and the Claude setup that keeps AI work safe.</a:t>
            </a:r>
            <a:endParaRPr lang="en-US" sz="2000" dirty="0"/>
          </a:p>
        </p:txBody>
      </p:sp>
      <p:sp>
        <p:nvSpPr>
          <p:cNvPr id="6" name="Text 4"/>
          <p:cNvSpPr/>
          <p:nvPr/>
        </p:nvSpPr>
        <p:spPr>
          <a:xfrm>
            <a:off x="812800" y="4194810"/>
            <a:ext cx="2044383" cy="340360"/>
          </a:xfrm>
          <a:prstGeom prst="roundRect">
            <a:avLst>
              <a:gd name="adj" fmla="val 50000"/>
            </a:avLst>
          </a:prstGeom>
          <a:solidFill>
            <a:srgbClr val="FFFFFF">
              <a:alpha val="15000"/>
            </a:srgbClr>
          </a:solidFill>
          <a:ln/>
        </p:spPr>
        <p:txBody>
          <a:bodyPr wrap="none" lIns="0" tIns="0" rIns="0" bIns="0" rtlCol="0" anchor="ctr">
            <a:normAutofit/>
          </a:bodyPr>
          <a:lstStyle/>
          <a:p>
            <a:pPr algn="ctr" indent="0" marL="0">
              <a:lnSpc>
                <a:spcPts val="1680"/>
              </a:lnSpc>
              <a:buNone/>
            </a:pPr>
            <a:r>
              <a:rPr lang="en-US" sz="1200" b="1" dirty="0">
                <a:solidFill>
                  <a:srgbClr val="FBFAFF"/>
                </a:solidFill>
                <a:latin typeface="Plus Jakarta Sans" pitchFamily="34" charset="0"/>
                <a:ea typeface="Plus Jakarta Sans" pitchFamily="34" charset="-122"/>
                <a:cs typeface="Plus Jakarta Sans" pitchFamily="34" charset="-120"/>
              </a:rPr>
              <a:t>React · TypeScript · Vite</a:t>
            </a:r>
            <a:endParaRPr lang="en-US" sz="1200" dirty="0"/>
          </a:p>
        </p:txBody>
      </p:sp>
      <p:sp>
        <p:nvSpPr>
          <p:cNvPr id="7" name="Text 5"/>
          <p:cNvSpPr/>
          <p:nvPr/>
        </p:nvSpPr>
        <p:spPr>
          <a:xfrm>
            <a:off x="2958783" y="4194810"/>
            <a:ext cx="1798201" cy="340360"/>
          </a:xfrm>
          <a:prstGeom prst="roundRect">
            <a:avLst>
              <a:gd name="adj" fmla="val 50000"/>
            </a:avLst>
          </a:prstGeom>
          <a:solidFill>
            <a:srgbClr val="FFFFFF">
              <a:alpha val="15000"/>
            </a:srgbClr>
          </a:solidFill>
          <a:ln/>
        </p:spPr>
        <p:txBody>
          <a:bodyPr wrap="none" lIns="0" tIns="0" rIns="0" bIns="0" rtlCol="0" anchor="ctr">
            <a:normAutofit/>
          </a:bodyPr>
          <a:lstStyle/>
          <a:p>
            <a:pPr algn="ctr" indent="0" marL="0">
              <a:lnSpc>
                <a:spcPts val="1680"/>
              </a:lnSpc>
              <a:buNone/>
            </a:pPr>
            <a:r>
              <a:rPr lang="en-US" sz="1200" b="1" dirty="0">
                <a:solidFill>
                  <a:srgbClr val="FBFAFF"/>
                </a:solidFill>
                <a:latin typeface="Plus Jakarta Sans" pitchFamily="34" charset="0"/>
                <a:ea typeface="Plus Jakarta Sans" pitchFamily="34" charset="-122"/>
                <a:cs typeface="Plus Jakarta Sans" pitchFamily="34" charset="-120"/>
              </a:rPr>
              <a:t>Ant Design · Tailwind</a:t>
            </a:r>
            <a:endParaRPr lang="en-US" sz="1200" dirty="0"/>
          </a:p>
        </p:txBody>
      </p:sp>
      <p:sp>
        <p:nvSpPr>
          <p:cNvPr id="8" name="Text 6"/>
          <p:cNvSpPr/>
          <p:nvPr/>
        </p:nvSpPr>
        <p:spPr>
          <a:xfrm>
            <a:off x="812800" y="4636770"/>
            <a:ext cx="2517378" cy="340360"/>
          </a:xfrm>
          <a:prstGeom prst="roundRect">
            <a:avLst>
              <a:gd name="adj" fmla="val 50000"/>
            </a:avLst>
          </a:prstGeom>
          <a:solidFill>
            <a:srgbClr val="FFFFFF">
              <a:alpha val="15000"/>
            </a:srgbClr>
          </a:solidFill>
          <a:ln/>
        </p:spPr>
        <p:txBody>
          <a:bodyPr wrap="none" lIns="0" tIns="0" rIns="0" bIns="0" rtlCol="0" anchor="ctr">
            <a:normAutofit/>
          </a:bodyPr>
          <a:lstStyle/>
          <a:p>
            <a:pPr algn="ctr" indent="0" marL="0">
              <a:lnSpc>
                <a:spcPts val="1680"/>
              </a:lnSpc>
              <a:buNone/>
            </a:pPr>
            <a:r>
              <a:rPr lang="en-US" sz="1200" b="1" dirty="0">
                <a:solidFill>
                  <a:srgbClr val="FBFAFF"/>
                </a:solidFill>
                <a:latin typeface="Plus Jakarta Sans" pitchFamily="34" charset="0"/>
                <a:ea typeface="Plus Jakarta Sans" pitchFamily="34" charset="-122"/>
                <a:cs typeface="Plus Jakarta Sans" pitchFamily="34" charset="-120"/>
              </a:rPr>
              <a:t>DRF · SimpleJWT · PostgreSQL</a:t>
            </a:r>
            <a:endParaRPr lang="en-US" sz="1200" dirty="0"/>
          </a:p>
        </p:txBody>
      </p:sp>
      <p:sp>
        <p:nvSpPr>
          <p:cNvPr id="9" name="Text 7"/>
          <p:cNvSpPr/>
          <p:nvPr/>
        </p:nvSpPr>
        <p:spPr>
          <a:xfrm>
            <a:off x="3431778" y="4636770"/>
            <a:ext cx="1271786" cy="340360"/>
          </a:xfrm>
          <a:prstGeom prst="roundRect">
            <a:avLst>
              <a:gd name="adj" fmla="val 50000"/>
            </a:avLst>
          </a:prstGeom>
          <a:solidFill>
            <a:srgbClr val="FFFFFF">
              <a:alpha val="15000"/>
            </a:srgbClr>
          </a:solidFill>
          <a:ln/>
        </p:spPr>
        <p:txBody>
          <a:bodyPr wrap="none" lIns="0" tIns="0" rIns="0" bIns="0" rtlCol="0" anchor="ctr">
            <a:normAutofit/>
          </a:bodyPr>
          <a:lstStyle/>
          <a:p>
            <a:pPr algn="ctr" indent="0" marL="0">
              <a:lnSpc>
                <a:spcPts val="1680"/>
              </a:lnSpc>
              <a:buNone/>
            </a:pPr>
            <a:r>
              <a:rPr lang="en-US" sz="1200" b="1" dirty="0">
                <a:solidFill>
                  <a:srgbClr val="FBFAFF"/>
                </a:solidFill>
                <a:latin typeface="Plus Jakarta Sans" pitchFamily="34" charset="0"/>
                <a:ea typeface="Plus Jakarta Sans" pitchFamily="34" charset="-122"/>
                <a:cs typeface="Plus Jakarta Sans" pitchFamily="34" charset="-120"/>
              </a:rPr>
              <a:t>Claude Code</a:t>
            </a:r>
            <a:endParaRPr lang="en-US" sz="1200" dirty="0"/>
          </a:p>
        </p:txBody>
      </p:sp>
      <p:pic>
        <p:nvPicPr>
          <p:cNvPr id="10" name="Image 0" descr="TaskFlow on a phone: gradient header, summary cards and charts">    </p:cNvPr>
          <p:cNvPicPr>
            <a:picLocks noChangeAspect="1"/>
          </p:cNvPicPr>
          <p:nvPr/>
        </p:nvPicPr>
        <p:blipFill>
          <a:blip r:embed="rId1"/>
          <a:srcRect l="0" r="0" t="695" b="695"/>
          <a:stretch/>
        </p:blipFill>
        <p:spPr>
          <a:xfrm>
            <a:off x="8674100" y="800100"/>
            <a:ext cx="2463800" cy="5257800"/>
          </a:xfrm>
          <a:prstGeom prst="roundRect">
            <a:avLst>
              <a:gd name="adj" fmla="val 8763"/>
            </a:avLst>
          </a:prstGeom>
        </p:spPr>
      </p:pic>
      <p:sp>
        <p:nvSpPr>
          <p:cNvPr id="11" name="Shape 8"/>
          <p:cNvSpPr/>
          <p:nvPr/>
        </p:nvSpPr>
        <p:spPr>
          <a:xfrm>
            <a:off x="8655050" y="781050"/>
            <a:ext cx="2501900" cy="5295900"/>
          </a:xfrm>
          <a:prstGeom prst="roundRect">
            <a:avLst>
              <a:gd name="adj" fmla="val 9391"/>
            </a:avLst>
          </a:prstGeom>
          <a:noFill/>
          <a:ln w="38100">
            <a:solidFill>
              <a:srgbClr val="FFFFFF">
                <a:alpha val="25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THE STACK</a:t>
            </a:r>
            <a:endParaRPr lang="en-US" sz="1200" dirty="0"/>
          </a:p>
        </p:txBody>
      </p:sp>
      <p:sp>
        <p:nvSpPr>
          <p:cNvPr id="3" name="Text 1"/>
          <p:cNvSpPr/>
          <p:nvPr>
            <p:ph type="title"/>
          </p:nvPr>
        </p:nvSpPr>
        <p:spPr>
          <a:xfrm>
            <a:off x="812800" y="1229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One origin: the browser only talks to Vite</a:t>
            </a:r>
            <a:endParaRPr lang="en-US" sz="3200" dirty="0"/>
          </a:p>
        </p:txBody>
      </p:sp>
      <p:sp>
        <p:nvSpPr>
          <p:cNvPr id="4" name="Shape 2"/>
          <p:cNvSpPr/>
          <p:nvPr/>
        </p:nvSpPr>
        <p:spPr>
          <a:xfrm>
            <a:off x="815975" y="1984375"/>
            <a:ext cx="2063750" cy="1159510"/>
          </a:xfrm>
          <a:prstGeom prst="roundRect">
            <a:avLst>
              <a:gd name="adj" fmla="val 12870"/>
            </a:avLst>
          </a:prstGeom>
          <a:solidFill>
            <a:srgbClr val="FFFFFF"/>
          </a:solidFill>
          <a:ln w="6350">
            <a:solidFill>
              <a:srgbClr val="E6E3F2"/>
            </a:solidFill>
            <a:prstDash val="solid"/>
          </a:ln>
        </p:spPr>
      </p:sp>
      <p:sp>
        <p:nvSpPr>
          <p:cNvPr id="5" name="Text 3"/>
          <p:cNvSpPr/>
          <p:nvPr/>
        </p:nvSpPr>
        <p:spPr>
          <a:xfrm>
            <a:off x="1021080" y="2189480"/>
            <a:ext cx="170434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Browser</a:t>
            </a:r>
            <a:endParaRPr lang="en-US" sz="1700" dirty="0"/>
          </a:p>
        </p:txBody>
      </p:sp>
      <p:sp>
        <p:nvSpPr>
          <p:cNvPr id="6" name="Text 4"/>
          <p:cNvSpPr/>
          <p:nvPr/>
        </p:nvSpPr>
        <p:spPr>
          <a:xfrm>
            <a:off x="1021080" y="2512060"/>
            <a:ext cx="1704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React SPA, access token in memory</a:t>
            </a:r>
            <a:endParaRPr lang="en-US" sz="1200" dirty="0"/>
          </a:p>
        </p:txBody>
      </p:sp>
      <p:pic>
        <p:nvPicPr>
          <p:cNvPr id="7" name="Image 0" descr="connector">    </p:cNvPr>
          <p:cNvPicPr>
            <a:picLocks noChangeAspect="1"/>
          </p:cNvPicPr>
          <p:nvPr/>
        </p:nvPicPr>
        <p:blipFill>
          <a:blip r:embed="rId1"/>
          <a:srcRect l="0" r="0" t="0" b="0"/>
          <a:stretch/>
        </p:blipFill>
        <p:spPr>
          <a:xfrm>
            <a:off x="3009900" y="2500630"/>
            <a:ext cx="508000" cy="127000"/>
          </a:xfrm>
          <a:prstGeom prst="rect">
            <a:avLst/>
          </a:prstGeom>
        </p:spPr>
      </p:pic>
      <p:sp>
        <p:nvSpPr>
          <p:cNvPr id="8" name="Shape 5"/>
          <p:cNvSpPr/>
          <p:nvPr/>
        </p:nvSpPr>
        <p:spPr>
          <a:xfrm>
            <a:off x="3648075" y="1984375"/>
            <a:ext cx="2063750" cy="1159510"/>
          </a:xfrm>
          <a:prstGeom prst="roundRect">
            <a:avLst>
              <a:gd name="adj" fmla="val 12870"/>
            </a:avLst>
          </a:prstGeom>
          <a:solidFill>
            <a:srgbClr val="FFFFFF"/>
          </a:solidFill>
          <a:ln w="6350">
            <a:solidFill>
              <a:srgbClr val="E6E3F2"/>
            </a:solidFill>
            <a:prstDash val="solid"/>
          </a:ln>
        </p:spPr>
      </p:sp>
      <p:sp>
        <p:nvSpPr>
          <p:cNvPr id="9" name="Text 6"/>
          <p:cNvSpPr/>
          <p:nvPr/>
        </p:nvSpPr>
        <p:spPr>
          <a:xfrm>
            <a:off x="3853180" y="2189480"/>
            <a:ext cx="170434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Vite :5173</a:t>
            </a:r>
            <a:endParaRPr lang="en-US" sz="1700" dirty="0"/>
          </a:p>
        </p:txBody>
      </p:sp>
      <p:sp>
        <p:nvSpPr>
          <p:cNvPr id="10" name="Text 7"/>
          <p:cNvSpPr/>
          <p:nvPr/>
        </p:nvSpPr>
        <p:spPr>
          <a:xfrm>
            <a:off x="3853180" y="2512060"/>
            <a:ext cx="1704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serves the app, proxies </a:t>
            </a:r>
            <a:r>
              <a:rPr lang="en-US" sz="1200" b="1" dirty="0">
                <a:solidFill>
                  <a:srgbClr val="4A4763"/>
                </a:solidFill>
                <a:latin typeface="Plus Jakarta Sans" pitchFamily="34" charset="0"/>
                <a:ea typeface="Plus Jakarta Sans" pitchFamily="34" charset="-122"/>
                <a:cs typeface="Plus Jakarta Sans" pitchFamily="34" charset="-120"/>
              </a:rPr>
              <a:t>/api</a:t>
            </a:r>
            <a:endParaRPr lang="en-US" sz="1200" dirty="0"/>
          </a:p>
        </p:txBody>
      </p:sp>
      <p:pic>
        <p:nvPicPr>
          <p:cNvPr id="11" name="Image 1" descr="connector">    </p:cNvPr>
          <p:cNvPicPr>
            <a:picLocks noChangeAspect="1"/>
          </p:cNvPicPr>
          <p:nvPr/>
        </p:nvPicPr>
        <p:blipFill>
          <a:blip r:embed="rId2"/>
          <a:srcRect l="0" r="0" t="0" b="0"/>
          <a:stretch/>
        </p:blipFill>
        <p:spPr>
          <a:xfrm>
            <a:off x="5842000" y="2500630"/>
            <a:ext cx="508000" cy="127000"/>
          </a:xfrm>
          <a:prstGeom prst="rect">
            <a:avLst/>
          </a:prstGeom>
        </p:spPr>
      </p:pic>
      <p:sp>
        <p:nvSpPr>
          <p:cNvPr id="12" name="Shape 8"/>
          <p:cNvSpPr/>
          <p:nvPr/>
        </p:nvSpPr>
        <p:spPr>
          <a:xfrm>
            <a:off x="6480175" y="1984375"/>
            <a:ext cx="2063750" cy="1159510"/>
          </a:xfrm>
          <a:prstGeom prst="roundRect">
            <a:avLst>
              <a:gd name="adj" fmla="val 12870"/>
            </a:avLst>
          </a:prstGeom>
          <a:solidFill>
            <a:srgbClr val="FFFFFF"/>
          </a:solidFill>
          <a:ln w="6350">
            <a:solidFill>
              <a:srgbClr val="E6E3F2"/>
            </a:solidFill>
            <a:prstDash val="solid"/>
          </a:ln>
        </p:spPr>
      </p:sp>
      <p:sp>
        <p:nvSpPr>
          <p:cNvPr id="13" name="Text 9"/>
          <p:cNvSpPr/>
          <p:nvPr/>
        </p:nvSpPr>
        <p:spPr>
          <a:xfrm>
            <a:off x="6685280" y="2189480"/>
            <a:ext cx="170434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Django :8000</a:t>
            </a:r>
            <a:endParaRPr lang="en-US" sz="1700" dirty="0"/>
          </a:p>
        </p:txBody>
      </p:sp>
      <p:sp>
        <p:nvSpPr>
          <p:cNvPr id="14" name="Text 10"/>
          <p:cNvSpPr/>
          <p:nvPr/>
        </p:nvSpPr>
        <p:spPr>
          <a:xfrm>
            <a:off x="6685280" y="2512060"/>
            <a:ext cx="1704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DRF + SimpleJWT, /api/v1/</a:t>
            </a:r>
            <a:endParaRPr lang="en-US" sz="1200" dirty="0"/>
          </a:p>
        </p:txBody>
      </p:sp>
      <p:pic>
        <p:nvPicPr>
          <p:cNvPr id="15" name="Image 2" descr="connector">    </p:cNvPr>
          <p:cNvPicPr>
            <a:picLocks noChangeAspect="1"/>
          </p:cNvPicPr>
          <p:nvPr/>
        </p:nvPicPr>
        <p:blipFill>
          <a:blip r:embed="rId3"/>
          <a:srcRect l="0" r="0" t="0" b="0"/>
          <a:stretch/>
        </p:blipFill>
        <p:spPr>
          <a:xfrm>
            <a:off x="8674100" y="2500630"/>
            <a:ext cx="508000" cy="127000"/>
          </a:xfrm>
          <a:prstGeom prst="rect">
            <a:avLst/>
          </a:prstGeom>
        </p:spPr>
      </p:pic>
      <p:sp>
        <p:nvSpPr>
          <p:cNvPr id="16" name="Shape 11"/>
          <p:cNvSpPr/>
          <p:nvPr/>
        </p:nvSpPr>
        <p:spPr>
          <a:xfrm>
            <a:off x="9312275" y="1984375"/>
            <a:ext cx="2063750" cy="1159510"/>
          </a:xfrm>
          <a:prstGeom prst="roundRect">
            <a:avLst>
              <a:gd name="adj" fmla="val 12870"/>
            </a:avLst>
          </a:prstGeom>
          <a:solidFill>
            <a:srgbClr val="FFFFFF"/>
          </a:solidFill>
          <a:ln w="6350">
            <a:solidFill>
              <a:srgbClr val="E6E3F2"/>
            </a:solidFill>
            <a:prstDash val="solid"/>
          </a:ln>
        </p:spPr>
      </p:sp>
      <p:sp>
        <p:nvSpPr>
          <p:cNvPr id="17" name="Text 12"/>
          <p:cNvSpPr/>
          <p:nvPr/>
        </p:nvSpPr>
        <p:spPr>
          <a:xfrm>
            <a:off x="9517380" y="2189480"/>
            <a:ext cx="170434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Postgres :5433</a:t>
            </a:r>
            <a:endParaRPr lang="en-US" sz="1700" dirty="0"/>
          </a:p>
        </p:txBody>
      </p:sp>
      <p:sp>
        <p:nvSpPr>
          <p:cNvPr id="18" name="Text 13"/>
          <p:cNvSpPr/>
          <p:nvPr/>
        </p:nvSpPr>
        <p:spPr>
          <a:xfrm>
            <a:off x="9517380" y="2512060"/>
            <a:ext cx="1704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PostgreSQL 17 in Docker</a:t>
            </a:r>
            <a:endParaRPr lang="en-US" sz="1200" dirty="0"/>
          </a:p>
        </p:txBody>
      </p:sp>
      <p:sp>
        <p:nvSpPr>
          <p:cNvPr id="19" name="Text 14"/>
          <p:cNvSpPr/>
          <p:nvPr/>
        </p:nvSpPr>
        <p:spPr>
          <a:xfrm>
            <a:off x="812800" y="3451860"/>
            <a:ext cx="981075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B1838"/>
                </a:solidFill>
                <a:latin typeface="Plus Jakarta Sans" pitchFamily="34" charset="0"/>
                <a:ea typeface="Plus Jakarta Sans" pitchFamily="34" charset="-122"/>
                <a:cs typeface="Plus Jakarta Sans" pitchFamily="34" charset="-120"/>
              </a:rPr>
              <a:t>Why one origin?</a:t>
            </a:r>
            <a:r>
              <a:rPr lang="en-US" sz="1500" dirty="0">
                <a:solidFill>
                  <a:srgbClr val="4A4763"/>
                </a:solidFill>
                <a:latin typeface="Plus Jakarta Sans" pitchFamily="34" charset="0"/>
                <a:ea typeface="Plus Jakarta Sans" pitchFamily="34" charset="-122"/>
                <a:cs typeface="Plus Jakarta Sans" pitchFamily="34" charset="-120"/>
              </a:rPr>
              <a:t> The refresh cookie stays first-party and CSRF works without CORS. In production a reverse proxy serves </a:t>
            </a:r>
            <a:r>
              <a:rPr lang="en-US" sz="1500" b="1" dirty="0">
                <a:solidFill>
                  <a:srgbClr val="4A4763"/>
                </a:solidFill>
                <a:latin typeface="Plus Jakarta Sans" pitchFamily="34" charset="0"/>
                <a:ea typeface="Plus Jakarta Sans" pitchFamily="34" charset="-122"/>
                <a:cs typeface="Plus Jakarta Sans" pitchFamily="34" charset="-120"/>
              </a:rPr>
              <a:t>frontend/dist</a:t>
            </a:r>
            <a:r>
              <a:rPr lang="en-US" sz="1500" dirty="0">
                <a:solidFill>
                  <a:srgbClr val="4A4763"/>
                </a:solidFill>
                <a:latin typeface="Plus Jakarta Sans" pitchFamily="34" charset="0"/>
                <a:ea typeface="Plus Jakarta Sans" pitchFamily="34" charset="-122"/>
                <a:cs typeface="Plus Jakarta Sans" pitchFamily="34" charset="-120"/>
              </a:rPr>
              <a:t> and forwards </a:t>
            </a:r>
            <a:r>
              <a:rPr lang="en-US" sz="1500" b="1" dirty="0">
                <a:solidFill>
                  <a:srgbClr val="4A4763"/>
                </a:solidFill>
                <a:latin typeface="Plus Jakarta Sans" pitchFamily="34" charset="0"/>
                <a:ea typeface="Plus Jakarta Sans" pitchFamily="34" charset="-122"/>
                <a:cs typeface="Plus Jakarta Sans" pitchFamily="34" charset="-120"/>
              </a:rPr>
              <a:t>/api</a:t>
            </a:r>
            <a:r>
              <a:rPr lang="en-US" sz="1500" dirty="0">
                <a:solidFill>
                  <a:srgbClr val="4A4763"/>
                </a:solidFill>
                <a:latin typeface="Plus Jakarta Sans" pitchFamily="34" charset="0"/>
                <a:ea typeface="Plus Jakarta Sans" pitchFamily="34" charset="-122"/>
                <a:cs typeface="Plus Jakarta Sans" pitchFamily="34" charset="-120"/>
              </a:rPr>
              <a:t> to Django on one domain.</a:t>
            </a:r>
            <a:endParaRPr lang="en-US" sz="1500" dirty="0"/>
          </a:p>
        </p:txBody>
      </p:sp>
      <p:sp>
        <p:nvSpPr>
          <p:cNvPr id="20" name="Text 15"/>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frontend/vite.config.ts · docker-compose.yml · CLAUDE.md (“served from one origin”)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React 19 + TypeScript: pages load only when needed</a:t>
            </a:r>
            <a:endParaRPr lang="en-US" sz="3200" dirty="0"/>
          </a:p>
        </p:txBody>
      </p:sp>
      <p:sp>
        <p:nvSpPr>
          <p:cNvPr id="4" name="Shape 2"/>
          <p:cNvSpPr/>
          <p:nvPr/>
        </p:nvSpPr>
        <p:spPr>
          <a:xfrm>
            <a:off x="812800" y="1828800"/>
            <a:ext cx="6883400" cy="2082800"/>
          </a:xfrm>
          <a:prstGeom prst="roundRect">
            <a:avLst>
              <a:gd name="adj" fmla="val 7317"/>
            </a:avLst>
          </a:prstGeom>
          <a:solidFill>
            <a:srgbClr val="1D1A39"/>
          </a:solidFill>
          <a:ln/>
        </p:spPr>
      </p:sp>
      <p:sp>
        <p:nvSpPr>
          <p:cNvPr id="5" name="Text 3"/>
          <p:cNvSpPr/>
          <p:nvPr/>
        </p:nvSpPr>
        <p:spPr>
          <a:xfrm>
            <a:off x="1066800" y="20320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App.tsx: route-level code splitting</a:t>
            </a:r>
            <a:endParaRPr lang="en-US" sz="1200" dirty="0"/>
          </a:p>
        </p:txBody>
      </p:sp>
      <p:sp>
        <p:nvSpPr>
          <p:cNvPr id="6" name="Text 4"/>
          <p:cNvSpPr/>
          <p:nvPr/>
        </p:nvSpPr>
        <p:spPr>
          <a:xfrm>
            <a:off x="1066800" y="22733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const TasksPage = lazy(() =&gt;</a:t>
            </a:r>
            <a:endParaRPr lang="en-US" sz="1200" dirty="0"/>
          </a:p>
        </p:txBody>
      </p:sp>
      <p:sp>
        <p:nvSpPr>
          <p:cNvPr id="7" name="Text 5"/>
          <p:cNvSpPr/>
          <p:nvPr/>
        </p:nvSpPr>
        <p:spPr>
          <a:xfrm>
            <a:off x="1066800" y="25146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import('./features/tasks/TasksPage')</a:t>
            </a:r>
            <a:endParaRPr lang="en-US" sz="1200" dirty="0"/>
          </a:p>
        </p:txBody>
      </p:sp>
      <p:sp>
        <p:nvSpPr>
          <p:cNvPr id="8" name="Text 6"/>
          <p:cNvSpPr/>
          <p:nvPr/>
        </p:nvSpPr>
        <p:spPr>
          <a:xfrm>
            <a:off x="1066800" y="27559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.then((m) =&gt; ({ default: m.TasksPage })))</a:t>
            </a:r>
            <a:endParaRPr lang="en-US" sz="1200" dirty="0"/>
          </a:p>
        </p:txBody>
      </p:sp>
      <p:sp>
        <p:nvSpPr>
          <p:cNvPr id="9" name="Text 7"/>
          <p:cNvSpPr/>
          <p:nvPr/>
        </p:nvSpPr>
        <p:spPr>
          <a:xfrm>
            <a:off x="1066800" y="32385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api/types.ts mirrors the DRF serializer</a:t>
            </a:r>
            <a:endParaRPr lang="en-US" sz="1200" dirty="0"/>
          </a:p>
        </p:txBody>
      </p:sp>
      <p:sp>
        <p:nvSpPr>
          <p:cNvPr id="10" name="Text 8"/>
          <p:cNvSpPr/>
          <p:nvPr/>
        </p:nvSpPr>
        <p:spPr>
          <a:xfrm>
            <a:off x="1066800" y="34798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export type TaskStatus = 'todo' | 'in_progress' | 'done'</a:t>
            </a:r>
            <a:endParaRPr lang="en-US" sz="1200" dirty="0"/>
          </a:p>
        </p:txBody>
      </p:sp>
      <p:sp>
        <p:nvSpPr>
          <p:cNvPr id="11" name="Text 9"/>
          <p:cNvSpPr/>
          <p:nvPr/>
        </p:nvSpPr>
        <p:spPr>
          <a:xfrm>
            <a:off x="7950200" y="1828800"/>
            <a:ext cx="353187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38"/>
                </a:solidFill>
                <a:latin typeface="Plus Jakarta Sans" pitchFamily="34" charset="0"/>
                <a:ea typeface="Plus Jakarta Sans" pitchFamily="34" charset="-122"/>
                <a:cs typeface="Plus Jakarta Sans" pitchFamily="34" charset="-120"/>
              </a:rPr>
              <a:t>lazy()</a:t>
            </a:r>
            <a:r>
              <a:rPr lang="en-US" sz="1400" dirty="0">
                <a:solidFill>
                  <a:srgbClr val="4A4763"/>
                </a:solidFill>
                <a:latin typeface="Plus Jakarta Sans" pitchFamily="34" charset="0"/>
                <a:ea typeface="Plus Jakarta Sans" pitchFamily="34" charset="-122"/>
                <a:cs typeface="Plus Jakarta Sans" pitchFamily="34" charset="-120"/>
              </a:rPr>
              <a:t>: the login page never downloads the task table.</a:t>
            </a:r>
            <a:endParaRPr lang="en-US" sz="1400" dirty="0"/>
          </a:p>
        </p:txBody>
      </p:sp>
      <p:sp>
        <p:nvSpPr>
          <p:cNvPr id="12" name="Text 10"/>
          <p:cNvSpPr/>
          <p:nvPr/>
        </p:nvSpPr>
        <p:spPr>
          <a:xfrm>
            <a:off x="7950200" y="2479041"/>
            <a:ext cx="353187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38"/>
                </a:solidFill>
                <a:latin typeface="Plus Jakarta Sans" pitchFamily="34" charset="0"/>
                <a:ea typeface="Plus Jakarta Sans" pitchFamily="34" charset="-122"/>
                <a:cs typeface="Plus Jakarta Sans" pitchFamily="34" charset="-120"/>
              </a:rPr>
              <a:t>Typed API</a:t>
            </a:r>
            <a:r>
              <a:rPr lang="en-US" sz="1400" dirty="0">
                <a:solidFill>
                  <a:srgbClr val="4A4763"/>
                </a:solidFill>
                <a:latin typeface="Plus Jakarta Sans" pitchFamily="34" charset="0"/>
                <a:ea typeface="Plus Jakarta Sans" pitchFamily="34" charset="-122"/>
                <a:cs typeface="Plus Jakarta Sans" pitchFamily="34" charset="-120"/>
              </a:rPr>
              <a:t>: change a serializer, change </a:t>
            </a:r>
            <a:r>
              <a:rPr lang="en-US" sz="1400" b="1" dirty="0">
                <a:solidFill>
                  <a:srgbClr val="4A4763"/>
                </a:solidFill>
                <a:latin typeface="Plus Jakarta Sans" pitchFamily="34" charset="0"/>
                <a:ea typeface="Plus Jakarta Sans" pitchFamily="34" charset="-122"/>
                <a:cs typeface="Plus Jakarta Sans" pitchFamily="34" charset="-120"/>
              </a:rPr>
              <a:t>types.ts</a:t>
            </a:r>
            <a:r>
              <a:rPr lang="en-US" sz="1400" dirty="0">
                <a:solidFill>
                  <a:srgbClr val="4A4763"/>
                </a:solidFill>
                <a:latin typeface="Plus Jakarta Sans" pitchFamily="34" charset="0"/>
                <a:ea typeface="Plus Jakarta Sans" pitchFamily="34" charset="-122"/>
                <a:cs typeface="Plus Jakarta Sans" pitchFamily="34" charset="-120"/>
              </a:rPr>
              <a:t> in the same commit.</a:t>
            </a:r>
            <a:endParaRPr lang="en-US" sz="1400" dirty="0"/>
          </a:p>
        </p:txBody>
      </p:sp>
      <p:sp>
        <p:nvSpPr>
          <p:cNvPr id="13" name="Text 11"/>
          <p:cNvSpPr/>
          <p:nvPr/>
        </p:nvSpPr>
        <p:spPr>
          <a:xfrm>
            <a:off x="7950200" y="3129280"/>
            <a:ext cx="3531870"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38"/>
                </a:solidFill>
                <a:latin typeface="Plus Jakarta Sans" pitchFamily="34" charset="0"/>
                <a:ea typeface="Plus Jakarta Sans" pitchFamily="34" charset="-122"/>
                <a:cs typeface="Plus Jakarta Sans" pitchFamily="34" charset="-120"/>
              </a:rPr>
              <a:t>Feature folders</a:t>
            </a:r>
            <a:r>
              <a:rPr lang="en-US" sz="1400" dirty="0">
                <a:solidFill>
                  <a:srgbClr val="4A4763"/>
                </a:solidFill>
                <a:latin typeface="Plus Jakarta Sans" pitchFamily="34" charset="0"/>
                <a:ea typeface="Plus Jakarta Sans" pitchFamily="34" charset="-122"/>
                <a:cs typeface="Plus Jakarta Sans" pitchFamily="34" charset="-120"/>
              </a:rPr>
              <a:t>: </a:t>
            </a:r>
            <a:r>
              <a:rPr lang="en-US" sz="1400" b="1" dirty="0">
                <a:solidFill>
                  <a:srgbClr val="4A4763"/>
                </a:solidFill>
                <a:latin typeface="Plus Jakarta Sans" pitchFamily="34" charset="0"/>
                <a:ea typeface="Plus Jakarta Sans" pitchFamily="34" charset="-122"/>
                <a:cs typeface="Plus Jakarta Sans" pitchFamily="34" charset="-120"/>
              </a:rPr>
              <a:t>features/auth</a:t>
            </a:r>
            <a:r>
              <a:rPr lang="en-US" sz="1400" dirty="0">
                <a:solidFill>
                  <a:srgbClr val="4A4763"/>
                </a:solidFill>
                <a:latin typeface="Plus Jakarta Sans" pitchFamily="34" charset="0"/>
                <a:ea typeface="Plus Jakarta Sans" pitchFamily="34" charset="-122"/>
                <a:cs typeface="Plus Jakarta Sans" pitchFamily="34" charset="-120"/>
              </a:rPr>
              <a:t>, </a:t>
            </a:r>
            <a:r>
              <a:rPr lang="en-US" sz="1400" b="1" dirty="0">
                <a:solidFill>
                  <a:srgbClr val="4A4763"/>
                </a:solidFill>
                <a:latin typeface="Plus Jakarta Sans" pitchFamily="34" charset="0"/>
                <a:ea typeface="Plus Jakarta Sans" pitchFamily="34" charset="-122"/>
                <a:cs typeface="Plus Jakarta Sans" pitchFamily="34" charset="-120"/>
              </a:rPr>
              <a:t>features/tasks</a:t>
            </a:r>
            <a:r>
              <a:rPr lang="en-US" sz="1400" dirty="0">
                <a:solidFill>
                  <a:srgbClr val="4A4763"/>
                </a:solidFill>
                <a:latin typeface="Plus Jakarta Sans" pitchFamily="34" charset="0"/>
                <a:ea typeface="Plus Jakarta Sans" pitchFamily="34" charset="-122"/>
                <a:cs typeface="Plus Jakarta Sans" pitchFamily="34" charset="-120"/>
              </a:rPr>
              <a:t>, each with pages, components and tests.</a:t>
            </a:r>
            <a:endParaRPr lang="en-US" sz="14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frontend/src/App.tsx · frontend/src/api/types.ts · Lessons 06, 09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Vite: dev server, proxy, build and tests</a:t>
            </a:r>
            <a:endParaRPr lang="en-US" sz="3200" dirty="0"/>
          </a:p>
        </p:txBody>
      </p:sp>
      <p:sp>
        <p:nvSpPr>
          <p:cNvPr id="4" name="Shape 2"/>
          <p:cNvSpPr/>
          <p:nvPr/>
        </p:nvSpPr>
        <p:spPr>
          <a:xfrm>
            <a:off x="812800" y="1828800"/>
            <a:ext cx="6756400" cy="3048000"/>
          </a:xfrm>
          <a:prstGeom prst="roundRect">
            <a:avLst>
              <a:gd name="adj" fmla="val 5000"/>
            </a:avLst>
          </a:prstGeom>
          <a:solidFill>
            <a:srgbClr val="1D1A39"/>
          </a:solidFill>
          <a:ln/>
        </p:spPr>
      </p:sp>
      <p:sp>
        <p:nvSpPr>
          <p:cNvPr id="5" name="Text 3"/>
          <p:cNvSpPr/>
          <p:nvPr/>
        </p:nvSpPr>
        <p:spPr>
          <a:xfrm>
            <a:off x="1066800" y="20320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vite.config.ts</a:t>
            </a:r>
            <a:endParaRPr lang="en-US" sz="1200" dirty="0"/>
          </a:p>
        </p:txBody>
      </p:sp>
      <p:sp>
        <p:nvSpPr>
          <p:cNvPr id="6" name="Text 4"/>
          <p:cNvSpPr/>
          <p:nvPr/>
        </p:nvSpPr>
        <p:spPr>
          <a:xfrm>
            <a:off x="1066800" y="22733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plugins: [react(), tailwindcss()],</a:t>
            </a:r>
            <a:endParaRPr lang="en-US" sz="1200" dirty="0"/>
          </a:p>
        </p:txBody>
      </p:sp>
      <p:sp>
        <p:nvSpPr>
          <p:cNvPr id="7" name="Text 5"/>
          <p:cNvSpPr/>
          <p:nvPr/>
        </p:nvSpPr>
        <p:spPr>
          <a:xfrm>
            <a:off x="1066800" y="25146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server: {</a:t>
            </a:r>
            <a:endParaRPr lang="en-US" sz="1200" dirty="0"/>
          </a:p>
        </p:txBody>
      </p:sp>
      <p:sp>
        <p:nvSpPr>
          <p:cNvPr id="8" name="Text 6"/>
          <p:cNvSpPr/>
          <p:nvPr/>
        </p:nvSpPr>
        <p:spPr>
          <a:xfrm>
            <a:off x="1066800" y="27559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proxy: {</a:t>
            </a:r>
            <a:endParaRPr lang="en-US" sz="1200" dirty="0"/>
          </a:p>
        </p:txBody>
      </p:sp>
      <p:sp>
        <p:nvSpPr>
          <p:cNvPr id="9" name="Text 7"/>
          <p:cNvSpPr/>
          <p:nvPr/>
        </p:nvSpPr>
        <p:spPr>
          <a:xfrm>
            <a:off x="1066800" y="29972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'/api': {</a:t>
            </a:r>
            <a:endParaRPr lang="en-US" sz="1200" dirty="0"/>
          </a:p>
        </p:txBody>
      </p:sp>
      <p:sp>
        <p:nvSpPr>
          <p:cNvPr id="10" name="Text 8"/>
          <p:cNvSpPr/>
          <p:nvPr/>
        </p:nvSpPr>
        <p:spPr>
          <a:xfrm>
            <a:off x="1066800" y="32385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target: process.env.VITE_DEV_API_TARGET</a:t>
            </a:r>
            <a:endParaRPr lang="en-US" sz="1200" dirty="0"/>
          </a:p>
        </p:txBody>
      </p:sp>
      <p:sp>
        <p:nvSpPr>
          <p:cNvPr id="11" name="Text 9"/>
          <p:cNvSpPr/>
          <p:nvPr/>
        </p:nvSpPr>
        <p:spPr>
          <a:xfrm>
            <a:off x="1066800" y="34798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 'http://127.0.0.1:8000',</a:t>
            </a:r>
            <a:endParaRPr lang="en-US" sz="1200" dirty="0"/>
          </a:p>
        </p:txBody>
      </p:sp>
      <p:sp>
        <p:nvSpPr>
          <p:cNvPr id="12" name="Text 10"/>
          <p:cNvSpPr/>
          <p:nvPr/>
        </p:nvSpPr>
        <p:spPr>
          <a:xfrm>
            <a:off x="1066800" y="37211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changeOrigin: false,</a:t>
            </a:r>
            <a:endParaRPr lang="en-US" sz="1200" dirty="0"/>
          </a:p>
        </p:txBody>
      </p:sp>
      <p:sp>
        <p:nvSpPr>
          <p:cNvPr id="13" name="Text 11"/>
          <p:cNvSpPr/>
          <p:nvPr/>
        </p:nvSpPr>
        <p:spPr>
          <a:xfrm>
            <a:off x="1066800" y="39624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a:t>
            </a:r>
            <a:endParaRPr lang="en-US" sz="1200" dirty="0"/>
          </a:p>
        </p:txBody>
      </p:sp>
      <p:sp>
        <p:nvSpPr>
          <p:cNvPr id="14" name="Text 12"/>
          <p:cNvSpPr/>
          <p:nvPr/>
        </p:nvSpPr>
        <p:spPr>
          <a:xfrm>
            <a:off x="1066800" y="42037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a:t>
            </a:r>
            <a:endParaRPr lang="en-US" sz="1200" dirty="0"/>
          </a:p>
        </p:txBody>
      </p:sp>
      <p:sp>
        <p:nvSpPr>
          <p:cNvPr id="15" name="Text 13"/>
          <p:cNvSpPr/>
          <p:nvPr/>
        </p:nvSpPr>
        <p:spPr>
          <a:xfrm>
            <a:off x="1066800" y="4445000"/>
            <a:ext cx="643585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835900" y="1841500"/>
          <a:ext cx="3543300" cy="2028190"/>
        </p:xfrm>
        <a:graphic>
          <a:graphicData uri="http://schemas.openxmlformats.org/drawingml/2006/table">
            <a:tbl>
              <a:tblPr/>
              <a:tblGrid>
                <a:gridCol w="1948815"/>
                <a:gridCol w="1594485"/>
              </a:tblGrid>
              <a:tr h="359410">
                <a:tc>
                  <a:txBody>
                    <a:bodyPr/>
                    <a:lstStyle/>
                    <a:p>
                      <a:pPr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Command</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Does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npm run dev</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:5173 + proxy</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9055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npm run build</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tsc -b, then bundle</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npm test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Vitest (jsdom)</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npm run e2e</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Playwright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17" name="Text 14"/>
          <p:cNvSpPr/>
          <p:nvPr/>
        </p:nvSpPr>
        <p:spPr>
          <a:xfrm>
            <a:off x="7823200" y="3996691"/>
            <a:ext cx="36626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3"/>
                </a:solidFill>
                <a:latin typeface="Plus Jakarta Sans" pitchFamily="34" charset="0"/>
                <a:ea typeface="Plus Jakarta Sans" pitchFamily="34" charset="-122"/>
                <a:cs typeface="Plus Jakarta Sans" pitchFamily="34" charset="-120"/>
              </a:rPr>
              <a:t>The e2e run points </a:t>
            </a:r>
            <a:r>
              <a:rPr lang="en-US" sz="1300" b="1" dirty="0">
                <a:solidFill>
                  <a:srgbClr val="4A4763"/>
                </a:solidFill>
                <a:latin typeface="Plus Jakarta Sans" pitchFamily="34" charset="0"/>
                <a:ea typeface="Plus Jakarta Sans" pitchFamily="34" charset="-122"/>
                <a:cs typeface="Plus Jakarta Sans" pitchFamily="34" charset="-120"/>
              </a:rPr>
              <a:t>VITE_DEV_API_TARGET</a:t>
            </a:r>
            <a:r>
              <a:rPr lang="en-US" sz="1300" dirty="0">
                <a:solidFill>
                  <a:srgbClr val="4A4763"/>
                </a:solidFill>
                <a:latin typeface="Plus Jakarta Sans" pitchFamily="34" charset="0"/>
                <a:ea typeface="Plus Jakarta Sans" pitchFamily="34" charset="-122"/>
                <a:cs typeface="Plus Jakarta Sans" pitchFamily="34" charset="-120"/>
              </a:rPr>
              <a:t> at a separate API on :8001.</a:t>
            </a:r>
            <a:endParaRPr lang="en-US" sz="1300" dirty="0"/>
          </a:p>
        </p:txBody>
      </p:sp>
      <p:sp>
        <p:nvSpPr>
          <p:cNvPr id="18"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frontend/vite.config.ts · frontend/package.json · Lesson 06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Ant Design + Tailwind: one job each</a:t>
            </a:r>
            <a:endParaRPr lang="en-US" sz="3200" dirty="0"/>
          </a:p>
        </p:txBody>
      </p:sp>
      <p:sp>
        <p:nvSpPr>
          <p:cNvPr id="4" name="Shape 2"/>
          <p:cNvSpPr/>
          <p:nvPr/>
        </p:nvSpPr>
        <p:spPr>
          <a:xfrm>
            <a:off x="815975" y="1831975"/>
            <a:ext cx="5175250" cy="2556510"/>
          </a:xfrm>
          <a:prstGeom prst="roundRect">
            <a:avLst>
              <a:gd name="adj" fmla="val 5837"/>
            </a:avLst>
          </a:prstGeom>
          <a:solidFill>
            <a:srgbClr val="FFFFFF"/>
          </a:solidFill>
          <a:ln w="6350">
            <a:solidFill>
              <a:srgbClr val="E6E3F2"/>
            </a:solidFill>
            <a:prstDash val="solid"/>
          </a:ln>
        </p:spPr>
      </p:sp>
      <p:sp>
        <p:nvSpPr>
          <p:cNvPr id="5" name="Text 3"/>
          <p:cNvSpPr/>
          <p:nvPr/>
        </p:nvSpPr>
        <p:spPr>
          <a:xfrm>
            <a:off x="1071880" y="206248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838"/>
                </a:solidFill>
                <a:latin typeface="Plus Jakarta Sans" pitchFamily="34" charset="0"/>
                <a:ea typeface="Plus Jakarta Sans" pitchFamily="34" charset="-122"/>
                <a:cs typeface="Plus Jakarta Sans" pitchFamily="34" charset="-120"/>
              </a:rPr>
              <a:t>Ant Design 6</a:t>
            </a:r>
            <a:endParaRPr lang="en-US" sz="2000" dirty="0"/>
          </a:p>
        </p:txBody>
      </p:sp>
      <p:sp>
        <p:nvSpPr>
          <p:cNvPr id="6" name="Text 4"/>
          <p:cNvSpPr/>
          <p:nvPr/>
        </p:nvSpPr>
        <p:spPr>
          <a:xfrm>
            <a:off x="1071880" y="2468882"/>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3"/>
                </a:solidFill>
                <a:latin typeface="Plus Jakarta Sans" pitchFamily="34" charset="0"/>
                <a:ea typeface="Plus Jakarta Sans" pitchFamily="34" charset="-122"/>
                <a:cs typeface="Plus Jakarta Sans" pitchFamily="34" charset="-120"/>
              </a:rPr>
              <a:t>Owns </a:t>
            </a:r>
            <a:r>
              <a:rPr lang="en-US" sz="1400" b="1" dirty="0">
                <a:solidFill>
                  <a:srgbClr val="4A4763"/>
                </a:solidFill>
                <a:latin typeface="Plus Jakarta Sans" pitchFamily="34" charset="0"/>
                <a:ea typeface="Plus Jakarta Sans" pitchFamily="34" charset="-122"/>
                <a:cs typeface="Plus Jakarta Sans" pitchFamily="34" charset="-120"/>
              </a:rPr>
              <a:t>components and colours</a:t>
            </a:r>
            <a:r>
              <a:rPr lang="en-US" sz="1400" dirty="0">
                <a:solidFill>
                  <a:srgbClr val="4A4763"/>
                </a:solidFill>
                <a:latin typeface="Plus Jakarta Sans" pitchFamily="34" charset="0"/>
                <a:ea typeface="Plus Jakarta Sans" pitchFamily="34" charset="-122"/>
                <a:cs typeface="Plus Jakarta Sans" pitchFamily="34" charset="-120"/>
              </a:rPr>
              <a:t>: forms, tables, modals, tags.</a:t>
            </a:r>
            <a:endParaRPr lang="en-US" sz="1400" dirty="0"/>
          </a:p>
        </p:txBody>
      </p:sp>
      <p:sp>
        <p:nvSpPr>
          <p:cNvPr id="7" name="Shape 5"/>
          <p:cNvSpPr/>
          <p:nvPr/>
        </p:nvSpPr>
        <p:spPr>
          <a:xfrm>
            <a:off x="1071880" y="3068321"/>
            <a:ext cx="4663440" cy="774700"/>
          </a:xfrm>
          <a:prstGeom prst="roundRect">
            <a:avLst>
              <a:gd name="adj" fmla="val 13115"/>
            </a:avLst>
          </a:prstGeom>
          <a:solidFill>
            <a:srgbClr val="1D1A39"/>
          </a:solidFill>
          <a:ln/>
        </p:spPr>
      </p:sp>
      <p:sp>
        <p:nvSpPr>
          <p:cNvPr id="8" name="Text 6"/>
          <p:cNvSpPr/>
          <p:nvPr/>
        </p:nvSpPr>
        <p:spPr>
          <a:xfrm>
            <a:off x="1249680" y="3220721"/>
            <a:ext cx="4437075"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token: { colorPrimary: BRAND_COLOR,</a:t>
            </a:r>
            <a:endParaRPr lang="en-US" sz="1200" dirty="0"/>
          </a:p>
        </p:txBody>
      </p:sp>
      <p:sp>
        <p:nvSpPr>
          <p:cNvPr id="9" name="Text 7"/>
          <p:cNvSpPr/>
          <p:nvPr/>
        </p:nvSpPr>
        <p:spPr>
          <a:xfrm>
            <a:off x="1249680" y="3462021"/>
            <a:ext cx="4437075"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borderRadius: 8, fontFamily }</a:t>
            </a:r>
            <a:endParaRPr lang="en-US" sz="1200" dirty="0"/>
          </a:p>
        </p:txBody>
      </p:sp>
      <p:sp>
        <p:nvSpPr>
          <p:cNvPr id="10" name="Text 8"/>
          <p:cNvSpPr/>
          <p:nvPr/>
        </p:nvSpPr>
        <p:spPr>
          <a:xfrm>
            <a:off x="1071880" y="39446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ConfigProvider in PreferencesProvider.tsx</a:t>
            </a:r>
            <a:endParaRPr lang="en-US" sz="1200" dirty="0"/>
          </a:p>
        </p:txBody>
      </p:sp>
      <p:sp>
        <p:nvSpPr>
          <p:cNvPr id="11" name="Shape 9"/>
          <p:cNvSpPr/>
          <p:nvPr/>
        </p:nvSpPr>
        <p:spPr>
          <a:xfrm>
            <a:off x="6200775" y="1831975"/>
            <a:ext cx="5175250" cy="2556510"/>
          </a:xfrm>
          <a:prstGeom prst="roundRect">
            <a:avLst>
              <a:gd name="adj" fmla="val 5837"/>
            </a:avLst>
          </a:prstGeom>
          <a:solidFill>
            <a:srgbClr val="FFFFFF"/>
          </a:solidFill>
          <a:ln w="6350">
            <a:solidFill>
              <a:srgbClr val="E6E3F2"/>
            </a:solidFill>
            <a:prstDash val="solid"/>
          </a:ln>
        </p:spPr>
      </p:sp>
      <p:sp>
        <p:nvSpPr>
          <p:cNvPr id="12" name="Text 10"/>
          <p:cNvSpPr/>
          <p:nvPr/>
        </p:nvSpPr>
        <p:spPr>
          <a:xfrm>
            <a:off x="6456680" y="206248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838"/>
                </a:solidFill>
                <a:latin typeface="Plus Jakarta Sans" pitchFamily="34" charset="0"/>
                <a:ea typeface="Plus Jakarta Sans" pitchFamily="34" charset="-122"/>
                <a:cs typeface="Plus Jakarta Sans" pitchFamily="34" charset="-120"/>
              </a:rPr>
              <a:t>Tailwind 4</a:t>
            </a:r>
            <a:endParaRPr lang="en-US" sz="2000" dirty="0"/>
          </a:p>
        </p:txBody>
      </p:sp>
      <p:sp>
        <p:nvSpPr>
          <p:cNvPr id="13" name="Text 11"/>
          <p:cNvSpPr/>
          <p:nvPr/>
        </p:nvSpPr>
        <p:spPr>
          <a:xfrm>
            <a:off x="6456680" y="2468882"/>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3"/>
                </a:solidFill>
                <a:latin typeface="Plus Jakarta Sans" pitchFamily="34" charset="0"/>
                <a:ea typeface="Plus Jakarta Sans" pitchFamily="34" charset="-122"/>
                <a:cs typeface="Plus Jakarta Sans" pitchFamily="34" charset="-120"/>
              </a:rPr>
              <a:t>Only </a:t>
            </a:r>
            <a:r>
              <a:rPr lang="en-US" sz="1400" b="1" dirty="0">
                <a:solidFill>
                  <a:srgbClr val="4A4763"/>
                </a:solidFill>
                <a:latin typeface="Plus Jakarta Sans" pitchFamily="34" charset="0"/>
                <a:ea typeface="Plus Jakarta Sans" pitchFamily="34" charset="-122"/>
                <a:cs typeface="Plus Jakarta Sans" pitchFamily="34" charset="-120"/>
              </a:rPr>
              <a:t>layout and spacing</a:t>
            </a:r>
            <a:r>
              <a:rPr lang="en-US" sz="1400" dirty="0">
                <a:solidFill>
                  <a:srgbClr val="4A4763"/>
                </a:solidFill>
                <a:latin typeface="Plus Jakarta Sans" pitchFamily="34" charset="0"/>
                <a:ea typeface="Plus Jakarta Sans" pitchFamily="34" charset="-122"/>
                <a:cs typeface="Plus Jakarta Sans" pitchFamily="34" charset="-120"/>
              </a:rPr>
              <a:t>: flex, grid, gap, padding.</a:t>
            </a:r>
            <a:endParaRPr lang="en-US" sz="1400" dirty="0"/>
          </a:p>
        </p:txBody>
      </p:sp>
      <p:sp>
        <p:nvSpPr>
          <p:cNvPr id="14" name="Shape 12"/>
          <p:cNvSpPr/>
          <p:nvPr/>
        </p:nvSpPr>
        <p:spPr>
          <a:xfrm>
            <a:off x="6456680" y="2819400"/>
            <a:ext cx="4663440" cy="774700"/>
          </a:xfrm>
          <a:prstGeom prst="roundRect">
            <a:avLst>
              <a:gd name="adj" fmla="val 13115"/>
            </a:avLst>
          </a:prstGeom>
          <a:solidFill>
            <a:srgbClr val="1D1A39"/>
          </a:solidFill>
          <a:ln/>
        </p:spPr>
      </p:sp>
      <p:sp>
        <p:nvSpPr>
          <p:cNvPr id="15" name="Text 13"/>
          <p:cNvSpPr/>
          <p:nvPr/>
        </p:nvSpPr>
        <p:spPr>
          <a:xfrm>
            <a:off x="6634480" y="2971800"/>
            <a:ext cx="4437075"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@import 'tailwindcss/theme.css' layer(theme);</a:t>
            </a:r>
            <a:endParaRPr lang="en-US" sz="1200" dirty="0"/>
          </a:p>
        </p:txBody>
      </p:sp>
      <p:sp>
        <p:nvSpPr>
          <p:cNvPr id="16" name="Text 14"/>
          <p:cNvSpPr/>
          <p:nvPr/>
        </p:nvSpPr>
        <p:spPr>
          <a:xfrm>
            <a:off x="6634480" y="3213100"/>
            <a:ext cx="4437075"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@import 'tailwindcss/utilities.css' layer(utilities);</a:t>
            </a:r>
            <a:endParaRPr lang="en-US" sz="1200" dirty="0"/>
          </a:p>
        </p:txBody>
      </p:sp>
      <p:sp>
        <p:nvSpPr>
          <p:cNvPr id="17" name="Text 15"/>
          <p:cNvSpPr/>
          <p:nvPr/>
        </p:nvSpPr>
        <p:spPr>
          <a:xfrm>
            <a:off x="6456680" y="36957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index.css: preflight skipped on purpose</a:t>
            </a:r>
            <a:endParaRPr lang="en-US" sz="1200" dirty="0"/>
          </a:p>
        </p:txBody>
      </p:sp>
      <p:sp>
        <p:nvSpPr>
          <p:cNvPr id="18" name="Text 16"/>
          <p:cNvSpPr/>
          <p:nvPr/>
        </p:nvSpPr>
        <p:spPr>
          <a:xfrm>
            <a:off x="812800" y="462026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1838"/>
                </a:solidFill>
                <a:latin typeface="Plus Jakarta Sans" pitchFamily="34" charset="0"/>
                <a:ea typeface="Plus Jakarta Sans" pitchFamily="34" charset="-122"/>
                <a:cs typeface="Plus Jakarta Sans" pitchFamily="34" charset="-120"/>
              </a:rPr>
              <a:t>Why:</a:t>
            </a:r>
            <a:r>
              <a:rPr lang="en-US" sz="1500" dirty="0">
                <a:solidFill>
                  <a:srgbClr val="1B1838"/>
                </a:solidFill>
                <a:latin typeface="Plus Jakarta Sans" pitchFamily="34" charset="0"/>
                <a:ea typeface="Plus Jakarta Sans" pitchFamily="34" charset="-122"/>
                <a:cs typeface="Plus Jakarta Sans" pitchFamily="34" charset="-120"/>
              </a:rPr>
              <a:t> Tailwind’s reset (preflight) would fight Ant Design’s base styles. Splitting the jobs avoids two styling systems clashing.</a:t>
            </a:r>
            <a:endParaRPr lang="en-US" sz="1500" dirty="0"/>
          </a:p>
        </p:txBody>
      </p:sp>
      <p:sp>
        <p:nvSpPr>
          <p:cNvPr id="19" name="Text 17"/>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frontend/src/index.css · frontend/src/preferences/PreferencesProvider.tsx · docs/design-system.md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Axios: one client, safe tokens</a:t>
            </a:r>
            <a:endParaRPr lang="en-US" sz="3200" dirty="0"/>
          </a:p>
        </p:txBody>
      </p:sp>
      <p:sp>
        <p:nvSpPr>
          <p:cNvPr id="4" name="Shape 2"/>
          <p:cNvSpPr/>
          <p:nvPr/>
        </p:nvSpPr>
        <p:spPr>
          <a:xfrm>
            <a:off x="812800" y="1828800"/>
            <a:ext cx="6883400" cy="2324100"/>
          </a:xfrm>
          <a:prstGeom prst="roundRect">
            <a:avLst>
              <a:gd name="adj" fmla="val 6557"/>
            </a:avLst>
          </a:prstGeom>
          <a:solidFill>
            <a:srgbClr val="1D1A39"/>
          </a:solidFill>
          <a:ln/>
        </p:spPr>
      </p:sp>
      <p:sp>
        <p:nvSpPr>
          <p:cNvPr id="5" name="Text 3"/>
          <p:cNvSpPr/>
          <p:nvPr/>
        </p:nvSpPr>
        <p:spPr>
          <a:xfrm>
            <a:off x="1066800" y="20320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api/client.ts (shortened): the only Axios instance</a:t>
            </a:r>
            <a:endParaRPr lang="en-US" sz="1200" dirty="0"/>
          </a:p>
        </p:txBody>
      </p:sp>
      <p:sp>
        <p:nvSpPr>
          <p:cNvPr id="6" name="Text 4"/>
          <p:cNvSpPr/>
          <p:nvPr/>
        </p:nvSpPr>
        <p:spPr>
          <a:xfrm>
            <a:off x="1066800" y="22733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export const api = axios.create({</a:t>
            </a:r>
            <a:endParaRPr lang="en-US" sz="1200" dirty="0"/>
          </a:p>
        </p:txBody>
      </p:sp>
      <p:sp>
        <p:nvSpPr>
          <p:cNvPr id="7" name="Text 5"/>
          <p:cNvSpPr/>
          <p:nvPr/>
        </p:nvSpPr>
        <p:spPr>
          <a:xfrm>
            <a:off x="1066800" y="25146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baseURL: '/api/v1', withCredentials: true,</a:t>
            </a:r>
            <a:endParaRPr lang="en-US" sz="1200" dirty="0"/>
          </a:p>
        </p:txBody>
      </p:sp>
      <p:sp>
        <p:nvSpPr>
          <p:cNvPr id="8" name="Text 6"/>
          <p:cNvSpPr/>
          <p:nvPr/>
        </p:nvSpPr>
        <p:spPr>
          <a:xfrm>
            <a:off x="1066800" y="27559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xsrfCookieName: 'csrftoken',</a:t>
            </a:r>
            <a:endParaRPr lang="en-US" sz="1200" dirty="0"/>
          </a:p>
        </p:txBody>
      </p:sp>
      <p:sp>
        <p:nvSpPr>
          <p:cNvPr id="9" name="Text 7"/>
          <p:cNvSpPr/>
          <p:nvPr/>
        </p:nvSpPr>
        <p:spPr>
          <a:xfrm>
            <a:off x="1066800" y="29972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xsrfHeaderName: 'X-CSRFToken',</a:t>
            </a:r>
            <a:endParaRPr lang="en-US" sz="1200" dirty="0"/>
          </a:p>
        </p:txBody>
      </p:sp>
      <p:sp>
        <p:nvSpPr>
          <p:cNvPr id="10" name="Text 8"/>
          <p:cNvSpPr/>
          <p:nvPr/>
        </p:nvSpPr>
        <p:spPr>
          <a:xfrm>
            <a:off x="1066800" y="32385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a:t>
            </a:r>
            <a:endParaRPr lang="en-US" sz="1200" dirty="0"/>
          </a:p>
        </p:txBody>
      </p:sp>
      <p:sp>
        <p:nvSpPr>
          <p:cNvPr id="11" name="Text 9"/>
          <p:cNvSpPr/>
          <p:nvPr/>
        </p:nvSpPr>
        <p:spPr>
          <a:xfrm>
            <a:off x="1066800" y="34798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let accessToken: string | null = null </a:t>
            </a:r>
            <a:r>
              <a:rPr lang="en-US" sz="1200" dirty="0">
                <a:solidFill>
                  <a:srgbClr val="8F8AB8"/>
                </a:solidFill>
                <a:latin typeface="JetBrains Mono" pitchFamily="49" charset="0"/>
                <a:ea typeface="JetBrains Mono" pitchFamily="49" charset="-122"/>
                <a:cs typeface="JetBrains Mono" pitchFamily="49" charset="-120"/>
              </a:rPr>
              <a:t>// memory only</a:t>
            </a:r>
            <a:endParaRPr lang="en-US" sz="1200" dirty="0"/>
          </a:p>
        </p:txBody>
      </p:sp>
      <p:sp>
        <p:nvSpPr>
          <p:cNvPr id="12" name="Text 10"/>
          <p:cNvSpPr/>
          <p:nvPr/>
        </p:nvSpPr>
        <p:spPr>
          <a:xfrm>
            <a:off x="1066800" y="37211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refreshInFlight ??= api.post('/auth/refresh/', …)</a:t>
            </a:r>
            <a:endParaRPr lang="en-US" sz="1200" dirty="0"/>
          </a:p>
        </p:txBody>
      </p:sp>
      <p:sp>
        <p:nvSpPr>
          <p:cNvPr id="13" name="Text 11"/>
          <p:cNvSpPr/>
          <p:nvPr/>
        </p:nvSpPr>
        <p:spPr>
          <a:xfrm>
            <a:off x="7950200" y="1828800"/>
            <a:ext cx="3531870"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B1838"/>
                </a:solidFill>
                <a:latin typeface="Plus Jakarta Sans" pitchFamily="34" charset="0"/>
                <a:ea typeface="Plus Jakarta Sans" pitchFamily="34" charset="-122"/>
                <a:cs typeface="Plus Jakarta Sans" pitchFamily="34" charset="-120"/>
              </a:rPr>
              <a:t>Access token</a:t>
            </a:r>
            <a:r>
              <a:rPr lang="en-US" sz="1350" dirty="0">
                <a:solidFill>
                  <a:srgbClr val="4A4763"/>
                </a:solidFill>
                <a:latin typeface="Plus Jakarta Sans" pitchFamily="34" charset="0"/>
                <a:ea typeface="Plus Jakarta Sans" pitchFamily="34" charset="-122"/>
                <a:cs typeface="Plus Jakarta Sans" pitchFamily="34" charset="-120"/>
              </a:rPr>
              <a:t> (5 min) in JS memory. Never in localStorage.</a:t>
            </a:r>
            <a:endParaRPr lang="en-US" sz="1350" dirty="0"/>
          </a:p>
        </p:txBody>
      </p:sp>
      <p:sp>
        <p:nvSpPr>
          <p:cNvPr id="14" name="Text 12"/>
          <p:cNvSpPr/>
          <p:nvPr/>
        </p:nvSpPr>
        <p:spPr>
          <a:xfrm>
            <a:off x="7950200" y="2435861"/>
            <a:ext cx="3531870"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B1838"/>
                </a:solidFill>
                <a:latin typeface="Plus Jakarta Sans" pitchFamily="34" charset="0"/>
                <a:ea typeface="Plus Jakarta Sans" pitchFamily="34" charset="-122"/>
                <a:cs typeface="Plus Jakarta Sans" pitchFamily="34" charset="-120"/>
              </a:rPr>
              <a:t>On 401</a:t>
            </a:r>
            <a:r>
              <a:rPr lang="en-US" sz="1350" dirty="0">
                <a:solidFill>
                  <a:srgbClr val="4A4763"/>
                </a:solidFill>
                <a:latin typeface="Plus Jakarta Sans" pitchFamily="34" charset="0"/>
                <a:ea typeface="Plus Jakarta Sans" pitchFamily="34" charset="-122"/>
                <a:cs typeface="Plus Jakarta Sans" pitchFamily="34" charset="-120"/>
              </a:rPr>
              <a:t> the interceptor refreshes once and retries the request.</a:t>
            </a:r>
            <a:endParaRPr lang="en-US" sz="1350" dirty="0"/>
          </a:p>
        </p:txBody>
      </p:sp>
      <p:sp>
        <p:nvSpPr>
          <p:cNvPr id="15" name="Text 13"/>
          <p:cNvSpPr/>
          <p:nvPr/>
        </p:nvSpPr>
        <p:spPr>
          <a:xfrm>
            <a:off x="7950200" y="3042921"/>
            <a:ext cx="3531870" cy="74549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B1838"/>
                </a:solidFill>
                <a:latin typeface="Plus Jakarta Sans" pitchFamily="34" charset="0"/>
                <a:ea typeface="Plus Jakarta Sans" pitchFamily="34" charset="-122"/>
                <a:cs typeface="Plus Jakarta Sans" pitchFamily="34" charset="-120"/>
              </a:rPr>
              <a:t>Shared refresh</a:t>
            </a:r>
            <a:r>
              <a:rPr lang="en-US" sz="1350" dirty="0">
                <a:solidFill>
                  <a:srgbClr val="4A4763"/>
                </a:solidFill>
                <a:latin typeface="Plus Jakarta Sans" pitchFamily="34" charset="0"/>
                <a:ea typeface="Plus Jakarta Sans" pitchFamily="34" charset="-122"/>
                <a:cs typeface="Plus Jakarta Sans" pitchFamily="34" charset="-120"/>
              </a:rPr>
              <a:t>: parallel calls wait for one refresh. Two would log the user out, because the server rotates tokens.</a:t>
            </a:r>
            <a:endParaRPr lang="en-US" sz="135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frontend/src/api/client.ts · CLAUDE.md, Auth model · Lesson 07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React Router: guards, safe redirects, URL state</a:t>
            </a:r>
            <a:endParaRPr lang="en-US" sz="3200" dirty="0"/>
          </a:p>
        </p:txBody>
      </p:sp>
      <p:sp>
        <p:nvSpPr>
          <p:cNvPr id="4" name="Shape 2"/>
          <p:cNvSpPr/>
          <p:nvPr/>
        </p:nvSpPr>
        <p:spPr>
          <a:xfrm>
            <a:off x="815975" y="1831975"/>
            <a:ext cx="3397250" cy="2084070"/>
          </a:xfrm>
          <a:prstGeom prst="roundRect">
            <a:avLst>
              <a:gd name="adj" fmla="val 7160"/>
            </a:avLst>
          </a:prstGeom>
          <a:solidFill>
            <a:srgbClr val="FFFFFF"/>
          </a:solidFill>
          <a:ln w="6350">
            <a:solidFill>
              <a:srgbClr val="E6E3F2"/>
            </a:solidFill>
            <a:prstDash val="solid"/>
          </a:ln>
        </p:spPr>
      </p:sp>
      <p:sp>
        <p:nvSpPr>
          <p:cNvPr id="5" name="Text 3"/>
          <p:cNvSpPr/>
          <p:nvPr/>
        </p:nvSpPr>
        <p:spPr>
          <a:xfrm>
            <a:off x="1046480" y="2062482"/>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Route guards</a:t>
            </a:r>
            <a:endParaRPr lang="en-US" sz="1700" dirty="0"/>
          </a:p>
        </p:txBody>
      </p:sp>
      <p:sp>
        <p:nvSpPr>
          <p:cNvPr id="6" name="Text 4"/>
          <p:cNvSpPr/>
          <p:nvPr/>
        </p:nvSpPr>
        <p:spPr>
          <a:xfrm>
            <a:off x="1046480" y="2410461"/>
            <a:ext cx="3024327" cy="9499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4763"/>
                </a:solidFill>
                <a:latin typeface="Plus Jakarta Sans" pitchFamily="34" charset="0"/>
                <a:ea typeface="Plus Jakarta Sans" pitchFamily="34" charset="-122"/>
                <a:cs typeface="Plus Jakarta Sans" pitchFamily="34" charset="-120"/>
              </a:rPr>
              <a:t>ProtectedRoute</a:t>
            </a:r>
            <a:r>
              <a:rPr lang="en-US" sz="1300" dirty="0">
                <a:solidFill>
                  <a:srgbClr val="4A4763"/>
                </a:solidFill>
                <a:latin typeface="Plus Jakarta Sans" pitchFamily="34" charset="0"/>
                <a:ea typeface="Plus Jakarta Sans" pitchFamily="34" charset="-122"/>
                <a:cs typeface="Plus Jakarta Sans" pitchFamily="34" charset="-120"/>
              </a:rPr>
              <a:t> sends guests to /login and remembers where they were going. </a:t>
            </a:r>
            <a:r>
              <a:rPr lang="en-US" sz="1300" b="1" dirty="0">
                <a:solidFill>
                  <a:srgbClr val="4A4763"/>
                </a:solidFill>
                <a:latin typeface="Plus Jakarta Sans" pitchFamily="34" charset="0"/>
                <a:ea typeface="Plus Jakarta Sans" pitchFamily="34" charset="-122"/>
                <a:cs typeface="Plus Jakarta Sans" pitchFamily="34" charset="-120"/>
              </a:rPr>
              <a:t>GuestRoute</a:t>
            </a:r>
            <a:r>
              <a:rPr lang="en-US" sz="1300" dirty="0">
                <a:solidFill>
                  <a:srgbClr val="4A4763"/>
                </a:solidFill>
                <a:latin typeface="Plus Jakarta Sans" pitchFamily="34" charset="0"/>
                <a:ea typeface="Plus Jakarta Sans" pitchFamily="34" charset="-122"/>
                <a:cs typeface="Plus Jakarta Sans" pitchFamily="34" charset="-120"/>
              </a:rPr>
              <a:t> keeps signed-in users out of /login.</a:t>
            </a:r>
            <a:endParaRPr lang="en-US" sz="1300" dirty="0"/>
          </a:p>
        </p:txBody>
      </p:sp>
      <p:sp>
        <p:nvSpPr>
          <p:cNvPr id="7" name="Shape 5"/>
          <p:cNvSpPr/>
          <p:nvPr/>
        </p:nvSpPr>
        <p:spPr>
          <a:xfrm>
            <a:off x="4397375" y="1831975"/>
            <a:ext cx="3397250" cy="2084070"/>
          </a:xfrm>
          <a:prstGeom prst="roundRect">
            <a:avLst>
              <a:gd name="adj" fmla="val 7160"/>
            </a:avLst>
          </a:prstGeom>
          <a:solidFill>
            <a:srgbClr val="FFFFFF"/>
          </a:solidFill>
          <a:ln w="6350">
            <a:solidFill>
              <a:srgbClr val="E6E3F2"/>
            </a:solidFill>
            <a:prstDash val="solid"/>
          </a:ln>
        </p:spPr>
      </p:sp>
      <p:sp>
        <p:nvSpPr>
          <p:cNvPr id="8" name="Text 6"/>
          <p:cNvSpPr/>
          <p:nvPr/>
        </p:nvSpPr>
        <p:spPr>
          <a:xfrm>
            <a:off x="4627880" y="2062482"/>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Safe redirect</a:t>
            </a:r>
            <a:endParaRPr lang="en-US" sz="1700" dirty="0"/>
          </a:p>
        </p:txBody>
      </p:sp>
      <p:sp>
        <p:nvSpPr>
          <p:cNvPr id="9" name="Shape 7"/>
          <p:cNvSpPr/>
          <p:nvPr/>
        </p:nvSpPr>
        <p:spPr>
          <a:xfrm>
            <a:off x="4627880" y="2410461"/>
            <a:ext cx="2936240" cy="723900"/>
          </a:xfrm>
          <a:prstGeom prst="roundRect">
            <a:avLst>
              <a:gd name="adj" fmla="val 14035"/>
            </a:avLst>
          </a:prstGeom>
          <a:solidFill>
            <a:srgbClr val="1D1A39"/>
          </a:solidFill>
          <a:ln/>
        </p:spPr>
      </p:sp>
      <p:sp>
        <p:nvSpPr>
          <p:cNvPr id="10" name="Text 8"/>
          <p:cNvSpPr/>
          <p:nvPr/>
        </p:nvSpPr>
        <p:spPr>
          <a:xfrm>
            <a:off x="4780280" y="2537461"/>
            <a:ext cx="2710383"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from.startsWith('/') &amp;&amp;</a:t>
            </a:r>
            <a:endParaRPr lang="en-US" sz="1200" dirty="0"/>
          </a:p>
        </p:txBody>
      </p:sp>
      <p:sp>
        <p:nvSpPr>
          <p:cNvPr id="11" name="Text 9"/>
          <p:cNvSpPr/>
          <p:nvPr/>
        </p:nvSpPr>
        <p:spPr>
          <a:xfrm>
            <a:off x="4780280" y="2778761"/>
            <a:ext cx="2710383"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!from.startsWith('//')</a:t>
            </a:r>
            <a:endParaRPr lang="en-US" sz="1200" dirty="0"/>
          </a:p>
        </p:txBody>
      </p:sp>
      <p:sp>
        <p:nvSpPr>
          <p:cNvPr id="12" name="Text 10"/>
          <p:cNvSpPr/>
          <p:nvPr/>
        </p:nvSpPr>
        <p:spPr>
          <a:xfrm>
            <a:off x="4627880" y="3223261"/>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3"/>
                </a:solidFill>
                <a:latin typeface="Plus Jakarta Sans" pitchFamily="34" charset="0"/>
                <a:ea typeface="Plus Jakarta Sans" pitchFamily="34" charset="-122"/>
                <a:cs typeface="Plus Jakarta Sans" pitchFamily="34" charset="-120"/>
              </a:rPr>
              <a:t>Blocks open redirects such as </a:t>
            </a:r>
            <a:r>
              <a:rPr lang="en-US" sz="1300" b="1" dirty="0">
                <a:solidFill>
                  <a:srgbClr val="4A4763"/>
                </a:solidFill>
                <a:latin typeface="Plus Jakarta Sans" pitchFamily="34" charset="0"/>
                <a:ea typeface="Plus Jakarta Sans" pitchFamily="34" charset="-122"/>
                <a:cs typeface="Plus Jakarta Sans" pitchFamily="34" charset="-120"/>
              </a:rPr>
              <a:t>//evil.example</a:t>
            </a:r>
            <a:r>
              <a:rPr lang="en-US" sz="1300" dirty="0">
                <a:solidFill>
                  <a:srgbClr val="4A4763"/>
                </a:solidFill>
                <a:latin typeface="Plus Jakarta Sans" pitchFamily="34" charset="0"/>
                <a:ea typeface="Plus Jakarta Sans" pitchFamily="34" charset="-122"/>
                <a:cs typeface="Plus Jakarta Sans" pitchFamily="34" charset="-120"/>
              </a:rPr>
              <a:t>.</a:t>
            </a:r>
            <a:endParaRPr lang="en-US" sz="1300" dirty="0"/>
          </a:p>
        </p:txBody>
      </p:sp>
      <p:sp>
        <p:nvSpPr>
          <p:cNvPr id="13" name="Shape 11"/>
          <p:cNvSpPr/>
          <p:nvPr/>
        </p:nvSpPr>
        <p:spPr>
          <a:xfrm>
            <a:off x="7978775" y="1831975"/>
            <a:ext cx="3397250" cy="2084070"/>
          </a:xfrm>
          <a:prstGeom prst="roundRect">
            <a:avLst>
              <a:gd name="adj" fmla="val 7160"/>
            </a:avLst>
          </a:prstGeom>
          <a:solidFill>
            <a:srgbClr val="FFFFFF"/>
          </a:solidFill>
          <a:ln w="6350">
            <a:solidFill>
              <a:srgbClr val="E6E3F2"/>
            </a:solidFill>
            <a:prstDash val="solid"/>
          </a:ln>
        </p:spPr>
      </p:sp>
      <p:sp>
        <p:nvSpPr>
          <p:cNvPr id="14" name="Text 12"/>
          <p:cNvSpPr/>
          <p:nvPr/>
        </p:nvSpPr>
        <p:spPr>
          <a:xfrm>
            <a:off x="8209280" y="2062482"/>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Filters in the URL</a:t>
            </a:r>
            <a:endParaRPr lang="en-US" sz="1700" dirty="0"/>
          </a:p>
        </p:txBody>
      </p:sp>
      <p:sp>
        <p:nvSpPr>
          <p:cNvPr id="15" name="Text 13"/>
          <p:cNvSpPr/>
          <p:nvPr/>
        </p:nvSpPr>
        <p:spPr>
          <a:xfrm>
            <a:off x="8209280" y="2410461"/>
            <a:ext cx="3024327" cy="9499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4763"/>
                </a:solidFill>
                <a:latin typeface="Plus Jakarta Sans" pitchFamily="34" charset="0"/>
                <a:ea typeface="Plus Jakarta Sans" pitchFamily="34" charset="-122"/>
                <a:cs typeface="Plus Jakarta Sans" pitchFamily="34" charset="-120"/>
              </a:rPr>
              <a:t>/?status=done&amp;search=milk&amp;page=2</a:t>
            </a:r>
            <a:r>
              <a:rPr lang="en-US" sz="1300" dirty="0">
                <a:solidFill>
                  <a:srgbClr val="4A4763"/>
                </a:solidFill>
                <a:latin typeface="Plus Jakarta Sans" pitchFamily="34" charset="0"/>
                <a:ea typeface="Plus Jakarta Sans" pitchFamily="34" charset="-122"/>
                <a:cs typeface="Plus Jakarta Sans" pitchFamily="34" charset="-120"/>
              </a:rPr>
              <a:t> survives a reload and can be shared. Bad values are dropped.</a:t>
            </a:r>
            <a:endParaRPr lang="en-US" sz="13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features/auth/RouteGuards.tsx · features/auth/redirect.ts · features/tasks/query.ts · Lessons 09–10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3839"/>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196" dirty="0"/>
          </a:p>
        </p:txBody>
      </p:sp>
      <p:sp>
        <p:nvSpPr>
          <p:cNvPr id="3" name="Text 1"/>
          <p:cNvSpPr/>
          <p:nvPr>
            <p:ph type="title"/>
          </p:nvPr>
        </p:nvSpPr>
        <p:spPr>
          <a:xfrm>
            <a:off x="812800" y="1122840"/>
            <a:ext cx="10883392" cy="462121"/>
          </a:xfrm>
          <a:prstGeom prst="rect">
            <a:avLst/>
          </a:prstGeom>
          <a:noFill/>
          <a:ln/>
        </p:spPr>
        <p:txBody>
          <a:bodyPr wrap="square" lIns="0" tIns="0" rIns="0" bIns="0" rtlCol="0" anchor="t">
            <a:normAutofit/>
          </a:bodyPr>
          <a:lstStyle/>
          <a:p>
            <a:pPr algn="l" indent="0" marL="0">
              <a:lnSpc>
                <a:spcPts val="3465"/>
              </a:lnSpc>
              <a:buNone/>
            </a:pPr>
            <a:r>
              <a:rPr lang="en-US" sz="3150" b="1" i="0" spc="-50" kern="0" dirty="0">
                <a:solidFill>
                  <a:srgbClr val="1B1838"/>
                </a:solidFill>
                <a:latin typeface="Plus Jakarta Sans" pitchFamily="34" charset="0"/>
                <a:ea typeface="Plus Jakarta Sans" pitchFamily="34" charset="-122"/>
                <a:cs typeface="Plus Jakarta Sans" pitchFamily="34" charset="-120"/>
              </a:rPr>
              <a:t>Responsive: desktop, tablet, mobile</a:t>
            </a:r>
            <a:endParaRPr lang="en-US" sz="3150" dirty="0"/>
          </a:p>
        </p:txBody>
      </p:sp>
      <p:pic>
        <p:nvPicPr>
          <p:cNvPr id="4" name="Image 0" descr="Desktop at 1440px: task table with title, status, priority and due date columns">    </p:cNvPr>
          <p:cNvPicPr>
            <a:picLocks noChangeAspect="1"/>
          </p:cNvPicPr>
          <p:nvPr/>
        </p:nvPicPr>
        <p:blipFill>
          <a:blip r:embed="rId1"/>
          <a:srcRect l="0" r="0" t="211" b="211"/>
          <a:stretch/>
        </p:blipFill>
        <p:spPr>
          <a:xfrm>
            <a:off x="819150" y="1683426"/>
            <a:ext cx="4940300" cy="3416300"/>
          </a:xfrm>
          <a:prstGeom prst="roundRect">
            <a:avLst>
              <a:gd name="adj" fmla="val 3532"/>
            </a:avLst>
          </a:prstGeom>
        </p:spPr>
      </p:pic>
      <p:sp>
        <p:nvSpPr>
          <p:cNvPr id="5" name="Shape 2"/>
          <p:cNvSpPr/>
          <p:nvPr/>
        </p:nvSpPr>
        <p:spPr>
          <a:xfrm>
            <a:off x="815975" y="1680251"/>
            <a:ext cx="4946650" cy="3422650"/>
          </a:xfrm>
          <a:prstGeom prst="roundRect">
            <a:avLst>
              <a:gd name="adj" fmla="val 3618"/>
            </a:avLst>
          </a:prstGeom>
          <a:noFill/>
          <a:ln w="6350">
            <a:solidFill>
              <a:srgbClr val="E6E3F2"/>
            </a:solidFill>
            <a:prstDash val="solid"/>
          </a:ln>
        </p:spPr>
      </p:sp>
      <p:sp>
        <p:nvSpPr>
          <p:cNvPr id="6" name="Text 3"/>
          <p:cNvSpPr/>
          <p:nvPr/>
        </p:nvSpPr>
        <p:spPr>
          <a:xfrm>
            <a:off x="812800" y="5182276"/>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Desktop 1440: table</a:t>
            </a:r>
            <a:endParaRPr lang="en-US" sz="1200" dirty="0"/>
          </a:p>
        </p:txBody>
      </p:sp>
      <p:pic>
        <p:nvPicPr>
          <p:cNvPr id="7" name="Image 1" descr="Tablet at 820px: hero, cards in two columns, charts stacked">    </p:cNvPr>
          <p:cNvPicPr>
            <a:picLocks noChangeAspect="1"/>
          </p:cNvPicPr>
          <p:nvPr/>
        </p:nvPicPr>
        <p:blipFill>
          <a:blip r:embed="rId2"/>
          <a:srcRect l="0" r="0" t="547" b="547"/>
          <a:stretch/>
        </p:blipFill>
        <p:spPr>
          <a:xfrm>
            <a:off x="5949950" y="1683426"/>
            <a:ext cx="2400300" cy="3416300"/>
          </a:xfrm>
          <a:prstGeom prst="roundRect">
            <a:avLst>
              <a:gd name="adj" fmla="val 5026"/>
            </a:avLst>
          </a:prstGeom>
        </p:spPr>
      </p:pic>
      <p:sp>
        <p:nvSpPr>
          <p:cNvPr id="8" name="Shape 4"/>
          <p:cNvSpPr/>
          <p:nvPr/>
        </p:nvSpPr>
        <p:spPr>
          <a:xfrm>
            <a:off x="5946775" y="1680251"/>
            <a:ext cx="2406650" cy="3422650"/>
          </a:xfrm>
          <a:prstGeom prst="roundRect">
            <a:avLst>
              <a:gd name="adj" fmla="val 5145"/>
            </a:avLst>
          </a:prstGeom>
          <a:noFill/>
          <a:ln w="6350">
            <a:solidFill>
              <a:srgbClr val="E6E3F2"/>
            </a:solidFill>
            <a:prstDash val="solid"/>
          </a:ln>
        </p:spPr>
      </p:sp>
      <p:sp>
        <p:nvSpPr>
          <p:cNvPr id="9" name="Text 5"/>
          <p:cNvSpPr/>
          <p:nvPr/>
        </p:nvSpPr>
        <p:spPr>
          <a:xfrm>
            <a:off x="5943600" y="5182276"/>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Tablet 820</a:t>
            </a:r>
            <a:endParaRPr lang="en-US" sz="1200" dirty="0"/>
          </a:p>
        </p:txBody>
      </p:sp>
      <p:pic>
        <p:nvPicPr>
          <p:cNvPr id="10" name="Image 2" descr="Mobile at 390px: stacked hero, cards and charts">    </p:cNvPr>
          <p:cNvPicPr>
            <a:picLocks noChangeAspect="1"/>
          </p:cNvPicPr>
          <p:nvPr/>
        </p:nvPicPr>
        <p:blipFill>
          <a:blip r:embed="rId3"/>
          <a:srcRect l="0" r="0" t="1821" b="1821"/>
          <a:stretch/>
        </p:blipFill>
        <p:spPr>
          <a:xfrm>
            <a:off x="8540750" y="1683426"/>
            <a:ext cx="1638300" cy="3416300"/>
          </a:xfrm>
          <a:prstGeom prst="roundRect">
            <a:avLst>
              <a:gd name="adj" fmla="val 7364"/>
            </a:avLst>
          </a:prstGeom>
        </p:spPr>
      </p:pic>
      <p:sp>
        <p:nvSpPr>
          <p:cNvPr id="11" name="Shape 6"/>
          <p:cNvSpPr/>
          <p:nvPr/>
        </p:nvSpPr>
        <p:spPr>
          <a:xfrm>
            <a:off x="8537575" y="1680251"/>
            <a:ext cx="1644650" cy="3422650"/>
          </a:xfrm>
          <a:prstGeom prst="roundRect">
            <a:avLst>
              <a:gd name="adj" fmla="val 7529"/>
            </a:avLst>
          </a:prstGeom>
          <a:noFill/>
          <a:ln w="6350">
            <a:solidFill>
              <a:srgbClr val="E6E3F2"/>
            </a:solidFill>
            <a:prstDash val="solid"/>
          </a:ln>
        </p:spPr>
      </p:sp>
      <p:sp>
        <p:nvSpPr>
          <p:cNvPr id="12" name="Text 7"/>
          <p:cNvSpPr/>
          <p:nvPr/>
        </p:nvSpPr>
        <p:spPr>
          <a:xfrm>
            <a:off x="8534400" y="5182276"/>
            <a:ext cx="170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Mobile 390: cards</a:t>
            </a:r>
            <a:endParaRPr lang="en-US" sz="1200" dirty="0"/>
          </a:p>
        </p:txBody>
      </p:sp>
      <p:sp>
        <p:nvSpPr>
          <p:cNvPr id="13" name="Text 8"/>
          <p:cNvSpPr/>
          <p:nvPr/>
        </p:nvSpPr>
        <p:spPr>
          <a:xfrm>
            <a:off x="812800" y="5598833"/>
            <a:ext cx="10883392" cy="268565"/>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1B1838"/>
                </a:solidFill>
                <a:latin typeface="Plus Jakarta Sans" pitchFamily="34" charset="0"/>
                <a:ea typeface="Plus Jakarta Sans" pitchFamily="34" charset="-122"/>
                <a:cs typeface="Plus Jakarta Sans" pitchFamily="34" charset="-120"/>
              </a:rPr>
              <a:t>Grid.useBreakpoint()</a:t>
            </a:r>
            <a:r>
              <a:rPr lang="en-US" sz="1374" dirty="0">
                <a:solidFill>
                  <a:srgbClr val="4A4763"/>
                </a:solidFill>
                <a:latin typeface="Plus Jakarta Sans" pitchFamily="34" charset="0"/>
                <a:ea typeface="Plus Jakarta Sans" pitchFamily="34" charset="-122"/>
                <a:cs typeface="Plus Jakarta Sans" pitchFamily="34" charset="-120"/>
              </a:rPr>
              <a:t> swaps the table for cards below </a:t>
            </a:r>
            <a:r>
              <a:rPr lang="en-US" sz="1374" b="1" dirty="0">
                <a:solidFill>
                  <a:srgbClr val="4A4763"/>
                </a:solidFill>
                <a:latin typeface="Plus Jakarta Sans" pitchFamily="34" charset="0"/>
                <a:ea typeface="Plus Jakarta Sans" pitchFamily="34" charset="-122"/>
                <a:cs typeface="Plus Jakarta Sans" pitchFamily="34" charset="-120"/>
              </a:rPr>
              <a:t>md</a:t>
            </a:r>
            <a:r>
              <a:rPr lang="en-US" sz="1374" dirty="0">
                <a:solidFill>
                  <a:srgbClr val="4A4763"/>
                </a:solidFill>
                <a:latin typeface="Plus Jakarta Sans" pitchFamily="34" charset="0"/>
                <a:ea typeface="Plus Jakarta Sans" pitchFamily="34" charset="-122"/>
                <a:cs typeface="Plus Jakarta Sans" pitchFamily="34" charset="-120"/>
              </a:rPr>
              <a:t>. Tailwind </a:t>
            </a:r>
            <a:r>
              <a:rPr lang="en-US" sz="1374" b="1" dirty="0">
                <a:solidFill>
                  <a:srgbClr val="4A4763"/>
                </a:solidFill>
                <a:latin typeface="Plus Jakarta Sans" pitchFamily="34" charset="0"/>
                <a:ea typeface="Plus Jakarta Sans" pitchFamily="34" charset="-122"/>
                <a:cs typeface="Plus Jakarta Sans" pitchFamily="34" charset="-120"/>
              </a:rPr>
              <a:t>sm / md / lg / xl</a:t>
            </a:r>
            <a:r>
              <a:rPr lang="en-US" sz="1374" dirty="0">
                <a:solidFill>
                  <a:srgbClr val="4A4763"/>
                </a:solidFill>
                <a:latin typeface="Plus Jakarta Sans" pitchFamily="34" charset="0"/>
                <a:ea typeface="Plus Jakarta Sans" pitchFamily="34" charset="-122"/>
                <a:cs typeface="Plus Jakarta Sans" pitchFamily="34" charset="-120"/>
              </a:rPr>
              <a:t> classes set the grid columns.</a:t>
            </a:r>
            <a:endParaRPr lang="en-US" sz="1374" dirty="0"/>
          </a:p>
        </p:txBody>
      </p:sp>
      <p:sp>
        <p:nvSpPr>
          <p:cNvPr id="14"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frontend/src/features/tasks/TaskList.tsx:23–26 · Lesson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Dark / light mode from one switch</a:t>
            </a:r>
            <a:endParaRPr lang="en-US" sz="3200" dirty="0"/>
          </a:p>
        </p:txBody>
      </p:sp>
      <p:pic>
        <p:nvPicPr>
          <p:cNvPr id="4" name="Image 0" descr="Tasks page in dark mode: same gradient hero, dark cards and charts">    </p:cNvPr>
          <p:cNvPicPr>
            <a:picLocks noChangeAspect="1"/>
          </p:cNvPicPr>
          <p:nvPr/>
        </p:nvPicPr>
        <p:blipFill>
          <a:blip r:embed="rId1"/>
          <a:srcRect l="0" r="0" t="22" b="22"/>
          <a:stretch/>
        </p:blipFill>
        <p:spPr>
          <a:xfrm>
            <a:off x="819150" y="1784350"/>
            <a:ext cx="5702300" cy="3562350"/>
          </a:xfrm>
          <a:prstGeom prst="roundRect">
            <a:avLst>
              <a:gd name="adj" fmla="val 3387"/>
            </a:avLst>
          </a:prstGeom>
        </p:spPr>
      </p:pic>
      <p:sp>
        <p:nvSpPr>
          <p:cNvPr id="5" name="Shape 2"/>
          <p:cNvSpPr/>
          <p:nvPr/>
        </p:nvSpPr>
        <p:spPr>
          <a:xfrm>
            <a:off x="815975" y="1781175"/>
            <a:ext cx="5708650" cy="3568700"/>
          </a:xfrm>
          <a:prstGeom prst="roundRect">
            <a:avLst>
              <a:gd name="adj" fmla="val 3470"/>
            </a:avLst>
          </a:prstGeom>
          <a:noFill/>
          <a:ln w="6350">
            <a:solidFill>
              <a:srgbClr val="E6E3F2"/>
            </a:solidFill>
            <a:prstDash val="solid"/>
          </a:ln>
        </p:spPr>
      </p:sp>
      <p:sp>
        <p:nvSpPr>
          <p:cNvPr id="6" name="Shape 3"/>
          <p:cNvSpPr/>
          <p:nvPr/>
        </p:nvSpPr>
        <p:spPr>
          <a:xfrm>
            <a:off x="6781800" y="1778000"/>
            <a:ext cx="4597400" cy="1016000"/>
          </a:xfrm>
          <a:prstGeom prst="roundRect">
            <a:avLst>
              <a:gd name="adj" fmla="val 12500"/>
            </a:avLst>
          </a:prstGeom>
          <a:solidFill>
            <a:srgbClr val="1D1A39"/>
          </a:solidFill>
          <a:ln/>
        </p:spPr>
      </p:sp>
      <p:sp>
        <p:nvSpPr>
          <p:cNvPr id="7" name="Text 4"/>
          <p:cNvSpPr/>
          <p:nvPr/>
        </p:nvSpPr>
        <p:spPr>
          <a:xfrm>
            <a:off x="6959600" y="1930400"/>
            <a:ext cx="4369054"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algorithm: themeMode === 'dark'</a:t>
            </a:r>
            <a:endParaRPr lang="en-US" sz="1200" dirty="0"/>
          </a:p>
        </p:txBody>
      </p:sp>
      <p:sp>
        <p:nvSpPr>
          <p:cNvPr id="8" name="Text 5"/>
          <p:cNvSpPr/>
          <p:nvPr/>
        </p:nvSpPr>
        <p:spPr>
          <a:xfrm>
            <a:off x="6959600" y="2171700"/>
            <a:ext cx="4369054"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 antTheme.darkAlgorithm</a:t>
            </a:r>
            <a:endParaRPr lang="en-US" sz="1200" dirty="0"/>
          </a:p>
        </p:txBody>
      </p:sp>
      <p:sp>
        <p:nvSpPr>
          <p:cNvPr id="9" name="Text 6"/>
          <p:cNvSpPr/>
          <p:nvPr/>
        </p:nvSpPr>
        <p:spPr>
          <a:xfrm>
            <a:off x="6959600" y="2413000"/>
            <a:ext cx="4369054"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 antTheme.defaultAlgorithm</a:t>
            </a:r>
            <a:endParaRPr lang="en-US" sz="1200" dirty="0"/>
          </a:p>
        </p:txBody>
      </p:sp>
      <p:sp>
        <p:nvSpPr>
          <p:cNvPr id="10" name="Text 7"/>
          <p:cNvSpPr/>
          <p:nvPr/>
        </p:nvSpPr>
        <p:spPr>
          <a:xfrm>
            <a:off x="6781800" y="2921000"/>
            <a:ext cx="473532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First visit:</a:t>
            </a:r>
            <a:r>
              <a:rPr lang="en-US" sz="1300" dirty="0">
                <a:solidFill>
                  <a:srgbClr val="4A4763"/>
                </a:solidFill>
                <a:latin typeface="Plus Jakarta Sans" pitchFamily="34" charset="0"/>
                <a:ea typeface="Plus Jakarta Sans" pitchFamily="34" charset="-122"/>
                <a:cs typeface="Plus Jakarta Sans" pitchFamily="34" charset="-120"/>
              </a:rPr>
              <a:t> follows the OS (prefers-color-scheme).</a:t>
            </a:r>
            <a:endParaRPr lang="en-US" sz="1300" dirty="0"/>
          </a:p>
        </p:txBody>
      </p:sp>
      <p:sp>
        <p:nvSpPr>
          <p:cNvPr id="11" name="Text 8"/>
          <p:cNvSpPr/>
          <p:nvPr/>
        </p:nvSpPr>
        <p:spPr>
          <a:xfrm>
            <a:off x="6781800" y="3279142"/>
            <a:ext cx="473532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After a click:</a:t>
            </a:r>
            <a:r>
              <a:rPr lang="en-US" sz="1300" dirty="0">
                <a:solidFill>
                  <a:srgbClr val="4A4763"/>
                </a:solidFill>
                <a:latin typeface="Plus Jakarta Sans" pitchFamily="34" charset="0"/>
                <a:ea typeface="Plus Jakarta Sans" pitchFamily="34" charset="-122"/>
                <a:cs typeface="Plus Jakarta Sans" pitchFamily="34" charset="-120"/>
              </a:rPr>
              <a:t> saved as </a:t>
            </a:r>
            <a:r>
              <a:rPr lang="en-US" sz="1300" b="1" dirty="0">
                <a:solidFill>
                  <a:srgbClr val="4A4763"/>
                </a:solidFill>
                <a:latin typeface="Plus Jakarta Sans" pitchFamily="34" charset="0"/>
                <a:ea typeface="Plus Jakarta Sans" pitchFamily="34" charset="-122"/>
                <a:cs typeface="Plus Jakarta Sans" pitchFamily="34" charset="-120"/>
              </a:rPr>
              <a:t>taskflow.theme</a:t>
            </a:r>
            <a:r>
              <a:rPr lang="en-US" sz="1300" dirty="0">
                <a:solidFill>
                  <a:srgbClr val="4A4763"/>
                </a:solidFill>
                <a:latin typeface="Plus Jakarta Sans" pitchFamily="34" charset="0"/>
                <a:ea typeface="Plus Jakarta Sans" pitchFamily="34" charset="-122"/>
                <a:cs typeface="Plus Jakarta Sans" pitchFamily="34" charset="-120"/>
              </a:rPr>
              <a:t>. Only preferences go in localStorage, never tokens.</a:t>
            </a:r>
            <a:endParaRPr lang="en-US" sz="1300" dirty="0"/>
          </a:p>
        </p:txBody>
      </p:sp>
      <p:sp>
        <p:nvSpPr>
          <p:cNvPr id="12" name="Text 9"/>
          <p:cNvSpPr/>
          <p:nvPr/>
        </p:nvSpPr>
        <p:spPr>
          <a:xfrm>
            <a:off x="6781800" y="3868421"/>
            <a:ext cx="473532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Charts</a:t>
            </a:r>
            <a:r>
              <a:rPr lang="en-US" sz="1300" dirty="0">
                <a:solidFill>
                  <a:srgbClr val="4A4763"/>
                </a:solidFill>
                <a:latin typeface="Plus Jakarta Sans" pitchFamily="34" charset="0"/>
                <a:ea typeface="Plus Jakarta Sans" pitchFamily="34" charset="-122"/>
                <a:cs typeface="Plus Jakarta Sans" pitchFamily="34" charset="-120"/>
              </a:rPr>
              <a:t> pick their own validated dark colours.</a:t>
            </a:r>
            <a:endParaRPr lang="en-US" sz="1300" dirty="0"/>
          </a:p>
        </p:txBody>
      </p:sp>
      <p:sp>
        <p:nvSpPr>
          <p:cNvPr id="13"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frontend/src/preferences/PreferencesProvider.tsx · preferences/brand.ts · Lesson 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1 · FRONTEND</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Khmer / English: a missing key fails the build</a:t>
            </a:r>
            <a:endParaRPr lang="en-US" sz="3200" dirty="0"/>
          </a:p>
        </p:txBody>
      </p:sp>
      <p:pic>
        <p:nvPicPr>
          <p:cNvPr id="4" name="Image 0" descr="Tasks page in Khmer: hero, cards and charts with Khmer labels">    </p:cNvPr>
          <p:cNvPicPr>
            <a:picLocks noChangeAspect="1"/>
          </p:cNvPicPr>
          <p:nvPr/>
        </p:nvPicPr>
        <p:blipFill>
          <a:blip r:embed="rId1"/>
          <a:srcRect l="0" r="0" t="22" b="22"/>
          <a:stretch/>
        </p:blipFill>
        <p:spPr>
          <a:xfrm>
            <a:off x="819150" y="1784350"/>
            <a:ext cx="5702300" cy="3562350"/>
          </a:xfrm>
          <a:prstGeom prst="roundRect">
            <a:avLst>
              <a:gd name="adj" fmla="val 3387"/>
            </a:avLst>
          </a:prstGeom>
        </p:spPr>
      </p:pic>
      <p:sp>
        <p:nvSpPr>
          <p:cNvPr id="5" name="Shape 2"/>
          <p:cNvSpPr/>
          <p:nvPr/>
        </p:nvSpPr>
        <p:spPr>
          <a:xfrm>
            <a:off x="815975" y="1781175"/>
            <a:ext cx="5708650" cy="3568700"/>
          </a:xfrm>
          <a:prstGeom prst="roundRect">
            <a:avLst>
              <a:gd name="adj" fmla="val 3470"/>
            </a:avLst>
          </a:prstGeom>
          <a:noFill/>
          <a:ln w="6350">
            <a:solidFill>
              <a:srgbClr val="E6E3F2"/>
            </a:solidFill>
            <a:prstDash val="solid"/>
          </a:ln>
        </p:spPr>
      </p:sp>
      <p:sp>
        <p:nvSpPr>
          <p:cNvPr id="6" name="Shape 3"/>
          <p:cNvSpPr/>
          <p:nvPr/>
        </p:nvSpPr>
        <p:spPr>
          <a:xfrm>
            <a:off x="6781800" y="1778000"/>
            <a:ext cx="4597400" cy="1016000"/>
          </a:xfrm>
          <a:prstGeom prst="roundRect">
            <a:avLst>
              <a:gd name="adj" fmla="val 12500"/>
            </a:avLst>
          </a:prstGeom>
          <a:solidFill>
            <a:srgbClr val="1D1A39"/>
          </a:solidFill>
          <a:ln/>
        </p:spPr>
      </p:sp>
      <p:sp>
        <p:nvSpPr>
          <p:cNvPr id="7" name="Text 4"/>
          <p:cNvSpPr/>
          <p:nvPr/>
        </p:nvSpPr>
        <p:spPr>
          <a:xfrm>
            <a:off x="6959600" y="1930400"/>
            <a:ext cx="4369054"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locales/km.ts</a:t>
            </a:r>
            <a:endParaRPr lang="en-US" sz="1200" dirty="0"/>
          </a:p>
        </p:txBody>
      </p:sp>
      <p:sp>
        <p:nvSpPr>
          <p:cNvPr id="8" name="Text 5"/>
          <p:cNvSpPr/>
          <p:nvPr/>
        </p:nvSpPr>
        <p:spPr>
          <a:xfrm>
            <a:off x="6959600" y="2171700"/>
            <a:ext cx="4369054"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const km: TranslationShape = {</a:t>
            </a:r>
            <a:endParaRPr lang="en-US" sz="1200" dirty="0"/>
          </a:p>
        </p:txBody>
      </p:sp>
      <p:sp>
        <p:nvSpPr>
          <p:cNvPr id="9" name="Text 6"/>
          <p:cNvSpPr/>
          <p:nvPr/>
        </p:nvSpPr>
        <p:spPr>
          <a:xfrm>
            <a:off x="6959600" y="2413000"/>
            <a:ext cx="4369054"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app: { name: 'TaskFlow', … },</a:t>
            </a:r>
            <a:endParaRPr lang="en-US" sz="1200" dirty="0"/>
          </a:p>
        </p:txBody>
      </p:sp>
      <p:sp>
        <p:nvSpPr>
          <p:cNvPr id="10" name="Text 7"/>
          <p:cNvSpPr/>
          <p:nvPr/>
        </p:nvSpPr>
        <p:spPr>
          <a:xfrm>
            <a:off x="6781800" y="2921000"/>
            <a:ext cx="473532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en.ts</a:t>
            </a:r>
            <a:r>
              <a:rPr lang="en-US" sz="1300" dirty="0">
                <a:solidFill>
                  <a:srgbClr val="4A4763"/>
                </a:solidFill>
                <a:latin typeface="Plus Jakarta Sans" pitchFamily="34" charset="0"/>
                <a:ea typeface="Plus Jakarta Sans" pitchFamily="34" charset="-122"/>
                <a:cs typeface="Plus Jakarta Sans" pitchFamily="34" charset="-120"/>
              </a:rPr>
              <a:t> is the source of truth. </a:t>
            </a:r>
            <a:r>
              <a:rPr lang="en-US" sz="1300" b="1" dirty="0">
                <a:solidFill>
                  <a:srgbClr val="4A4763"/>
                </a:solidFill>
                <a:latin typeface="Plus Jakarta Sans" pitchFamily="34" charset="0"/>
                <a:ea typeface="Plus Jakarta Sans" pitchFamily="34" charset="-122"/>
                <a:cs typeface="Plus Jakarta Sans" pitchFamily="34" charset="-120"/>
              </a:rPr>
              <a:t>km.ts</a:t>
            </a:r>
            <a:r>
              <a:rPr lang="en-US" sz="1300" dirty="0">
                <a:solidFill>
                  <a:srgbClr val="4A4763"/>
                </a:solidFill>
                <a:latin typeface="Plus Jakarta Sans" pitchFamily="34" charset="0"/>
                <a:ea typeface="Plus Jakarta Sans" pitchFamily="34" charset="-122"/>
                <a:cs typeface="Plus Jakarta Sans" pitchFamily="34" charset="-120"/>
              </a:rPr>
              <a:t> is typed against it, so </a:t>
            </a:r>
            <a:r>
              <a:rPr lang="en-US" sz="1300" b="1" dirty="0">
                <a:solidFill>
                  <a:srgbClr val="4A4763"/>
                </a:solidFill>
                <a:latin typeface="Plus Jakarta Sans" pitchFamily="34" charset="0"/>
                <a:ea typeface="Plus Jakarta Sans" pitchFamily="34" charset="-122"/>
                <a:cs typeface="Plus Jakarta Sans" pitchFamily="34" charset="-120"/>
              </a:rPr>
              <a:t>tsc</a:t>
            </a:r>
            <a:r>
              <a:rPr lang="en-US" sz="1300" dirty="0">
                <a:solidFill>
                  <a:srgbClr val="4A4763"/>
                </a:solidFill>
                <a:latin typeface="Plus Jakarta Sans" pitchFamily="34" charset="0"/>
                <a:ea typeface="Plus Jakarta Sans" pitchFamily="34" charset="-122"/>
                <a:cs typeface="Plus Jakarta Sans" pitchFamily="34" charset="-120"/>
              </a:rPr>
              <a:t> fails if a key is missing.</a:t>
            </a:r>
            <a:endParaRPr lang="en-US" sz="1300" dirty="0"/>
          </a:p>
        </p:txBody>
      </p:sp>
      <p:sp>
        <p:nvSpPr>
          <p:cNvPr id="11" name="Text 8"/>
          <p:cNvSpPr/>
          <p:nvPr/>
        </p:nvSpPr>
        <p:spPr>
          <a:xfrm>
            <a:off x="6781800" y="3510279"/>
            <a:ext cx="473532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Font:</a:t>
            </a:r>
            <a:r>
              <a:rPr lang="en-US" sz="1300" dirty="0">
                <a:solidFill>
                  <a:srgbClr val="4A4763"/>
                </a:solidFill>
                <a:latin typeface="Plus Jakarta Sans" pitchFamily="34" charset="0"/>
                <a:ea typeface="Plus Jakarta Sans" pitchFamily="34" charset="-122"/>
                <a:cs typeface="Plus Jakarta Sans" pitchFamily="34" charset="-120"/>
              </a:rPr>
              <a:t> Noto Sans Khmer is bundled; line-height 1.75 for stacked vowels.</a:t>
            </a:r>
            <a:endParaRPr lang="en-US" sz="1300" dirty="0"/>
          </a:p>
        </p:txBody>
      </p:sp>
      <p:sp>
        <p:nvSpPr>
          <p:cNvPr id="12" name="Text 9"/>
          <p:cNvSpPr/>
          <p:nvPr/>
        </p:nvSpPr>
        <p:spPr>
          <a:xfrm>
            <a:off x="6781800" y="4099564"/>
            <a:ext cx="473532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Dates:</a:t>
            </a:r>
            <a:r>
              <a:rPr lang="en-US" sz="1300" dirty="0">
                <a:solidFill>
                  <a:srgbClr val="4A4763"/>
                </a:solidFill>
                <a:latin typeface="Plus Jakarta Sans" pitchFamily="34" charset="0"/>
                <a:ea typeface="Plus Jakarta Sans" pitchFamily="34" charset="-122"/>
                <a:cs typeface="Plus Jakarta Sans" pitchFamily="34" charset="-120"/>
              </a:rPr>
              <a:t> dayjs and Ant Design switch locale too.</a:t>
            </a:r>
            <a:endParaRPr lang="en-US" sz="1300" dirty="0"/>
          </a:p>
        </p:txBody>
      </p:sp>
      <p:sp>
        <p:nvSpPr>
          <p:cNvPr id="13"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frontend/src/i18n/index.ts · i18n/locales/en.ts, km.ts · Lesson 08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5B"/>
                </a:solidFill>
                <a:latin typeface="Plus Jakarta Sans" pitchFamily="34" charset="0"/>
                <a:ea typeface="Plus Jakarta Sans" pitchFamily="34" charset="-122"/>
                <a:cs typeface="Plus Jakarta Sans" pitchFamily="34" charset="-120"/>
              </a:rPr>
              <a:t>PART 1 · BACKEND</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DRF + SimpleJWT + PostgreSQL</a:t>
            </a:r>
            <a:endParaRPr lang="en-US" sz="3200" dirty="0"/>
          </a:p>
        </p:txBody>
      </p:sp>
      <p:sp>
        <p:nvSpPr>
          <p:cNvPr id="4" name="Shape 2"/>
          <p:cNvSpPr/>
          <p:nvPr/>
        </p:nvSpPr>
        <p:spPr>
          <a:xfrm>
            <a:off x="815975" y="1831975"/>
            <a:ext cx="3397250" cy="1997710"/>
          </a:xfrm>
          <a:prstGeom prst="roundRect">
            <a:avLst>
              <a:gd name="adj" fmla="val 7470"/>
            </a:avLst>
          </a:prstGeom>
          <a:solidFill>
            <a:srgbClr val="FFFFFF"/>
          </a:solidFill>
          <a:ln w="6350">
            <a:solidFill>
              <a:srgbClr val="E6E3F2"/>
            </a:solidFill>
            <a:prstDash val="solid"/>
          </a:ln>
        </p:spPr>
      </p:sp>
      <p:sp>
        <p:nvSpPr>
          <p:cNvPr id="5" name="Text 3"/>
          <p:cNvSpPr/>
          <p:nvPr/>
        </p:nvSpPr>
        <p:spPr>
          <a:xfrm>
            <a:off x="1046480" y="2037079"/>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Django REST Framework</a:t>
            </a:r>
            <a:endParaRPr lang="en-US" sz="1700" dirty="0"/>
          </a:p>
        </p:txBody>
      </p:sp>
      <p:sp>
        <p:nvSpPr>
          <p:cNvPr id="6" name="Text 4"/>
          <p:cNvSpPr/>
          <p:nvPr/>
        </p:nvSpPr>
        <p:spPr>
          <a:xfrm>
            <a:off x="1046480" y="2385064"/>
            <a:ext cx="2936240" cy="457200"/>
          </a:xfrm>
          <a:prstGeom prst="roundRect">
            <a:avLst>
              <a:gd name="adj" fmla="val 22222"/>
            </a:avLst>
          </a:prstGeom>
          <a:solidFill>
            <a:srgbClr val="1D1A39"/>
          </a:solidFill>
          <a:ln/>
        </p:spPr>
        <p:txBody>
          <a:bodyPr wrap="none" lIns="109942" tIns="84542" rIns="30237" bIns="59142"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Task.objects.filter(owner=user)</a:t>
            </a:r>
            <a:endParaRPr lang="en-US" sz="1200" dirty="0"/>
          </a:p>
        </p:txBody>
      </p:sp>
      <p:sp>
        <p:nvSpPr>
          <p:cNvPr id="7" name="Text 5"/>
          <p:cNvSpPr/>
          <p:nvPr/>
        </p:nvSpPr>
        <p:spPr>
          <a:xfrm>
            <a:off x="1046480" y="2931164"/>
            <a:ext cx="302432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3"/>
                </a:solidFill>
                <a:latin typeface="Plus Jakarta Sans" pitchFamily="34" charset="0"/>
                <a:ea typeface="Plus Jakarta Sans" pitchFamily="34" charset="-122"/>
                <a:cs typeface="Plus Jakarta Sans" pitchFamily="34" charset="-120"/>
              </a:rPr>
              <a:t>Every query is scoped to the user. Another user’s task gives </a:t>
            </a:r>
            <a:r>
              <a:rPr lang="en-US" sz="1300" b="1" dirty="0">
                <a:solidFill>
                  <a:srgbClr val="4A4763"/>
                </a:solidFill>
                <a:latin typeface="Plus Jakarta Sans" pitchFamily="34" charset="0"/>
                <a:ea typeface="Plus Jakarta Sans" pitchFamily="34" charset="-122"/>
                <a:cs typeface="Plus Jakarta Sans" pitchFamily="34" charset="-120"/>
              </a:rPr>
              <a:t>404</a:t>
            </a:r>
            <a:r>
              <a:rPr lang="en-US" sz="1300" dirty="0">
                <a:solidFill>
                  <a:srgbClr val="4A4763"/>
                </a:solidFill>
                <a:latin typeface="Plus Jakarta Sans" pitchFamily="34" charset="0"/>
                <a:ea typeface="Plus Jakarta Sans" pitchFamily="34" charset="-122"/>
                <a:cs typeface="Plus Jakarta Sans" pitchFamily="34" charset="-120"/>
              </a:rPr>
              <a:t>, not 403, so IDs don’t leak.</a:t>
            </a:r>
            <a:endParaRPr lang="en-US" sz="1300" dirty="0"/>
          </a:p>
        </p:txBody>
      </p:sp>
      <p:sp>
        <p:nvSpPr>
          <p:cNvPr id="8" name="Shape 6"/>
          <p:cNvSpPr/>
          <p:nvPr/>
        </p:nvSpPr>
        <p:spPr>
          <a:xfrm>
            <a:off x="4397375" y="1831975"/>
            <a:ext cx="3397250" cy="1997710"/>
          </a:xfrm>
          <a:prstGeom prst="roundRect">
            <a:avLst>
              <a:gd name="adj" fmla="val 7470"/>
            </a:avLst>
          </a:prstGeom>
          <a:solidFill>
            <a:srgbClr val="FFFFFF"/>
          </a:solidFill>
          <a:ln w="6350">
            <a:solidFill>
              <a:srgbClr val="E6E3F2"/>
            </a:solidFill>
            <a:prstDash val="solid"/>
          </a:ln>
        </p:spPr>
      </p:sp>
      <p:sp>
        <p:nvSpPr>
          <p:cNvPr id="9" name="Text 7"/>
          <p:cNvSpPr/>
          <p:nvPr/>
        </p:nvSpPr>
        <p:spPr>
          <a:xfrm>
            <a:off x="4627880" y="2037079"/>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SimpleJWT</a:t>
            </a:r>
            <a:endParaRPr lang="en-US" sz="1700" dirty="0"/>
          </a:p>
        </p:txBody>
      </p:sp>
      <p:sp>
        <p:nvSpPr>
          <p:cNvPr id="10" name="Text 8"/>
          <p:cNvSpPr/>
          <p:nvPr/>
        </p:nvSpPr>
        <p:spPr>
          <a:xfrm>
            <a:off x="4627880" y="2385064"/>
            <a:ext cx="3024327"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3"/>
                </a:solidFill>
                <a:latin typeface="Plus Jakarta Sans" pitchFamily="34" charset="0"/>
                <a:ea typeface="Plus Jakarta Sans" pitchFamily="34" charset="-122"/>
                <a:cs typeface="Plus Jakarta Sans" pitchFamily="34" charset="-120"/>
              </a:rPr>
              <a:t>Access token: 5 min, in memory. Refresh token: 7 days, </a:t>
            </a:r>
            <a:r>
              <a:rPr lang="en-US" sz="1300" b="1" dirty="0">
                <a:solidFill>
                  <a:srgbClr val="4A4763"/>
                </a:solidFill>
                <a:latin typeface="Plus Jakarta Sans" pitchFamily="34" charset="0"/>
                <a:ea typeface="Plus Jakarta Sans" pitchFamily="34" charset="-122"/>
                <a:cs typeface="Plus Jakarta Sans" pitchFamily="34" charset="-120"/>
              </a:rPr>
              <a:t>httpOnly cookie</a:t>
            </a:r>
            <a:r>
              <a:rPr lang="en-US" sz="1300" dirty="0">
                <a:solidFill>
                  <a:srgbClr val="4A4763"/>
                </a:solidFill>
                <a:latin typeface="Plus Jakarta Sans" pitchFamily="34" charset="0"/>
                <a:ea typeface="Plus Jakarta Sans" pitchFamily="34" charset="-122"/>
                <a:cs typeface="Plus Jakarta Sans" pitchFamily="34" charset="-120"/>
              </a:rPr>
              <a:t> on /api/v1/auth/, rotated and blacklisted on every use. CSRF on refresh and logout.</a:t>
            </a:r>
            <a:endParaRPr lang="en-US" sz="1300" dirty="0"/>
          </a:p>
        </p:txBody>
      </p:sp>
      <p:sp>
        <p:nvSpPr>
          <p:cNvPr id="11" name="Shape 9"/>
          <p:cNvSpPr/>
          <p:nvPr/>
        </p:nvSpPr>
        <p:spPr>
          <a:xfrm>
            <a:off x="7978775" y="1831975"/>
            <a:ext cx="3397250" cy="1997710"/>
          </a:xfrm>
          <a:prstGeom prst="roundRect">
            <a:avLst>
              <a:gd name="adj" fmla="val 7470"/>
            </a:avLst>
          </a:prstGeom>
          <a:solidFill>
            <a:srgbClr val="FFFFFF"/>
          </a:solidFill>
          <a:ln w="6350">
            <a:solidFill>
              <a:srgbClr val="E6E3F2"/>
            </a:solidFill>
            <a:prstDash val="solid"/>
          </a:ln>
        </p:spPr>
      </p:sp>
      <p:sp>
        <p:nvSpPr>
          <p:cNvPr id="12" name="Text 10"/>
          <p:cNvSpPr/>
          <p:nvPr/>
        </p:nvSpPr>
        <p:spPr>
          <a:xfrm>
            <a:off x="8209280" y="2037079"/>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PostgreSQL 17</a:t>
            </a:r>
            <a:endParaRPr lang="en-US" sz="1700" dirty="0"/>
          </a:p>
        </p:txBody>
      </p:sp>
      <p:sp>
        <p:nvSpPr>
          <p:cNvPr id="13" name="Text 11"/>
          <p:cNvSpPr/>
          <p:nvPr/>
        </p:nvSpPr>
        <p:spPr>
          <a:xfrm>
            <a:off x="8209280" y="2385064"/>
            <a:ext cx="30243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3"/>
                </a:solidFill>
                <a:latin typeface="Plus Jakarta Sans" pitchFamily="34" charset="0"/>
                <a:ea typeface="Plus Jakarta Sans" pitchFamily="34" charset="-122"/>
                <a:cs typeface="Plus Jakarta Sans" pitchFamily="34" charset="-120"/>
              </a:rPr>
              <a:t>Docker on :5433. CHECK constraints and owner-first indexes. The ERD and a scaling roadmap are in </a:t>
            </a:r>
            <a:r>
              <a:rPr lang="en-US" sz="1300" b="1" dirty="0">
                <a:solidFill>
                  <a:srgbClr val="4A4763"/>
                </a:solidFill>
                <a:latin typeface="Plus Jakarta Sans" pitchFamily="34" charset="0"/>
                <a:ea typeface="Plus Jakarta Sans" pitchFamily="34" charset="-122"/>
                <a:cs typeface="Plus Jakarta Sans" pitchFamily="34" charset="-120"/>
              </a:rPr>
              <a:t>docs/erd.md</a:t>
            </a:r>
            <a:r>
              <a:rPr lang="en-US" sz="1300" dirty="0">
                <a:solidFill>
                  <a:srgbClr val="4A4763"/>
                </a:solidFill>
                <a:latin typeface="Plus Jakarta Sans" pitchFamily="34" charset="0"/>
                <a:ea typeface="Plus Jakarta Sans" pitchFamily="34" charset="-122"/>
                <a:cs typeface="Plus Jakarta Sans" pitchFamily="34" charset="-120"/>
              </a:rPr>
              <a:t>.</a:t>
            </a:r>
            <a:endParaRPr lang="en-US" sz="1300" dirty="0"/>
          </a:p>
        </p:txBody>
      </p:sp>
      <p:sp>
        <p:nvSpPr>
          <p:cNvPr id="14" name="Text 12"/>
          <p:cNvSpPr/>
          <p:nvPr/>
        </p:nvSpPr>
        <p:spPr>
          <a:xfrm>
            <a:off x="812800" y="406146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38"/>
                </a:solidFill>
                <a:latin typeface="Plus Jakarta Sans" pitchFamily="34" charset="0"/>
                <a:ea typeface="Plus Jakarta Sans" pitchFamily="34" charset="-122"/>
                <a:cs typeface="Plus Jakarta Sans" pitchFamily="34" charset="-120"/>
              </a:rPr>
              <a:t>Never</a:t>
            </a:r>
            <a:r>
              <a:rPr lang="en-US" sz="1400" dirty="0">
                <a:solidFill>
                  <a:srgbClr val="1B1838"/>
                </a:solidFill>
                <a:latin typeface="Plus Jakarta Sans" pitchFamily="34" charset="0"/>
                <a:ea typeface="Plus Jakarta Sans" pitchFamily="34" charset="-122"/>
                <a:cs typeface="Plus Jakarta Sans" pitchFamily="34" charset="-120"/>
              </a:rPr>
              <a:t> disable CSRF, permissions, throttling or the ownership filter “to make something work”.</a:t>
            </a:r>
            <a:endParaRPr lang="en-US" sz="14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backend/tasks/views.py:29–30 · backend/config/settings.py (SIMPLE_JWT) · docs/erd.md · Lessons 02–05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21CAF"/>
                </a:solidFill>
                <a:latin typeface="Plus Jakarta Sans" pitchFamily="34" charset="0"/>
                <a:ea typeface="Plus Jakarta Sans" pitchFamily="34" charset="-122"/>
                <a:cs typeface="Plus Jakarta Sans" pitchFamily="34" charset="-120"/>
              </a:rPr>
              <a:t>PART 2 · HELPER 1 · MOTION.DEV</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Motion: animation that explains a change</a:t>
            </a:r>
            <a:endParaRPr lang="en-US" sz="3200" dirty="0"/>
          </a:p>
        </p:txBody>
      </p:sp>
      <p:sp>
        <p:nvSpPr>
          <p:cNvPr id="4" name="Shape 2"/>
          <p:cNvSpPr/>
          <p:nvPr/>
        </p:nvSpPr>
        <p:spPr>
          <a:xfrm>
            <a:off x="812800" y="1778000"/>
            <a:ext cx="7162800" cy="2755900"/>
          </a:xfrm>
          <a:prstGeom prst="roundRect">
            <a:avLst>
              <a:gd name="adj" fmla="val 5530"/>
            </a:avLst>
          </a:prstGeom>
          <a:solidFill>
            <a:srgbClr val="1D1A39"/>
          </a:solidFill>
          <a:ln/>
        </p:spPr>
      </p:sp>
      <p:sp>
        <p:nvSpPr>
          <p:cNvPr id="5" name="Text 3"/>
          <p:cNvSpPr/>
          <p:nvPr/>
        </p:nvSpPr>
        <p:spPr>
          <a:xfrm>
            <a:off x="1041400" y="19558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1. pin a version older than 2 weeks</a:t>
            </a:r>
            <a:endParaRPr lang="en-US" sz="1200" dirty="0"/>
          </a:p>
        </p:txBody>
      </p:sp>
      <p:sp>
        <p:nvSpPr>
          <p:cNvPr id="6" name="Text 4"/>
          <p:cNvSpPr/>
          <p:nvPr/>
        </p:nvSpPr>
        <p:spPr>
          <a:xfrm>
            <a:off x="1041400" y="21971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npm view motion time --json | tail -8</a:t>
            </a:r>
            <a:endParaRPr lang="en-US" sz="1200" dirty="0"/>
          </a:p>
        </p:txBody>
      </p:sp>
      <p:sp>
        <p:nvSpPr>
          <p:cNvPr id="7" name="Text 5"/>
          <p:cNvSpPr/>
          <p:nvPr/>
        </p:nvSpPr>
        <p:spPr>
          <a:xfrm>
            <a:off x="1041400" y="24384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npm install --save-exact motion@14.0.0</a:t>
            </a:r>
            <a:endParaRPr lang="en-US" sz="1200" dirty="0"/>
          </a:p>
        </p:txBody>
      </p:sp>
      <p:sp>
        <p:nvSpPr>
          <p:cNvPr id="8" name="Text 6"/>
          <p:cNvSpPr/>
          <p:nvPr/>
        </p:nvSpPr>
        <p:spPr>
          <a:xfrm>
            <a:off x="1041400" y="26797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2. wrap the app once (PreferencesProvider)</a:t>
            </a:r>
            <a:endParaRPr lang="en-US" sz="1200" dirty="0"/>
          </a:p>
        </p:txBody>
      </p:sp>
      <p:sp>
        <p:nvSpPr>
          <p:cNvPr id="9" name="Text 7"/>
          <p:cNvSpPr/>
          <p:nvPr/>
        </p:nvSpPr>
        <p:spPr>
          <a:xfrm>
            <a:off x="1041400" y="29210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&lt;MotionConfig reducedMotion="user"&gt;</a:t>
            </a:r>
            <a:endParaRPr lang="en-US" sz="1200" dirty="0"/>
          </a:p>
        </p:txBody>
      </p:sp>
      <p:sp>
        <p:nvSpPr>
          <p:cNvPr id="10" name="Text 8"/>
          <p:cNvSpPr/>
          <p:nvPr/>
        </p:nvSpPr>
        <p:spPr>
          <a:xfrm>
            <a:off x="1041400" y="31623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&lt;LazyMotion features={loadMotionFeatures} strict&gt;</a:t>
            </a:r>
            <a:endParaRPr lang="en-US" sz="1200" dirty="0"/>
          </a:p>
        </p:txBody>
      </p:sp>
      <p:sp>
        <p:nvSpPr>
          <p:cNvPr id="11" name="Text 9"/>
          <p:cNvSpPr/>
          <p:nvPr/>
        </p:nvSpPr>
        <p:spPr>
          <a:xfrm>
            <a:off x="1041400" y="34036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3. use the light components everywhere</a:t>
            </a:r>
            <a:endParaRPr lang="en-US" sz="1200" dirty="0"/>
          </a:p>
        </p:txBody>
      </p:sp>
      <p:sp>
        <p:nvSpPr>
          <p:cNvPr id="12" name="Text 10"/>
          <p:cNvSpPr/>
          <p:nvPr/>
        </p:nvSpPr>
        <p:spPr>
          <a:xfrm>
            <a:off x="1041400" y="36449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import * as m from 'motion/react-m'</a:t>
            </a:r>
            <a:endParaRPr lang="en-US" sz="1200" dirty="0"/>
          </a:p>
        </p:txBody>
      </p:sp>
      <p:sp>
        <p:nvSpPr>
          <p:cNvPr id="13" name="Text 11"/>
          <p:cNvSpPr/>
          <p:nvPr/>
        </p:nvSpPr>
        <p:spPr>
          <a:xfrm>
            <a:off x="1041400" y="38862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&lt;m.div initial={{ opacity: 0, y: 12 }}</a:t>
            </a:r>
            <a:endParaRPr lang="en-US" sz="1200" dirty="0"/>
          </a:p>
        </p:txBody>
      </p:sp>
      <p:sp>
        <p:nvSpPr>
          <p:cNvPr id="14" name="Text 12"/>
          <p:cNvSpPr/>
          <p:nvPr/>
        </p:nvSpPr>
        <p:spPr>
          <a:xfrm>
            <a:off x="1041400" y="4127500"/>
            <a:ext cx="690676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  animate={{ opacity: 1, y: 0 }} /&gt;</a:t>
            </a:r>
            <a:endParaRPr lang="en-US" sz="1200" dirty="0"/>
          </a:p>
        </p:txBody>
      </p:sp>
      <p:sp>
        <p:nvSpPr>
          <p:cNvPr id="15" name="Shape 13"/>
          <p:cNvSpPr/>
          <p:nvPr/>
        </p:nvSpPr>
        <p:spPr>
          <a:xfrm>
            <a:off x="8204200" y="1778000"/>
            <a:ext cx="3175000" cy="1905000"/>
          </a:xfrm>
          <a:prstGeom prst="roundRect">
            <a:avLst>
              <a:gd name="adj" fmla="val 6667"/>
            </a:avLst>
          </a:prstGeom>
          <a:solidFill>
            <a:srgbClr val="6D28D9"/>
          </a:solidFill>
          <a:ln/>
        </p:spPr>
      </p:sp>
      <p:pic>
        <p:nvPicPr>
          <p:cNvPr id="16" name="Image 0" descr="Progress ring at 31% with a burst of coloured particles">    </p:cNvPr>
          <p:cNvPicPr>
            <a:picLocks noChangeAspect="1"/>
          </p:cNvPicPr>
          <p:nvPr/>
        </p:nvPicPr>
        <p:blipFill>
          <a:blip r:embed="rId1"/>
          <a:stretch>
            <a:fillRect/>
          </a:stretch>
        </p:blipFill>
        <p:spPr>
          <a:xfrm>
            <a:off x="8680450" y="1778000"/>
            <a:ext cx="2222500" cy="1905000"/>
          </a:xfrm>
          <a:prstGeom prst="rect">
            <a:avLst/>
          </a:prstGeom>
        </p:spPr>
      </p:pic>
      <p:sp>
        <p:nvSpPr>
          <p:cNvPr id="17" name="Text 14"/>
          <p:cNvSpPr/>
          <p:nvPr/>
        </p:nvSpPr>
        <p:spPr>
          <a:xfrm>
            <a:off x="8204200" y="3797300"/>
            <a:ext cx="327025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1838"/>
                </a:solidFill>
                <a:latin typeface="Plus Jakarta Sans" pitchFamily="34" charset="0"/>
                <a:ea typeface="Plus Jakarta Sans" pitchFamily="34" charset="-122"/>
                <a:cs typeface="Plus Jakarta Sans" pitchFamily="34" charset="-120"/>
              </a:rPr>
              <a:t>Animate:</a:t>
            </a:r>
            <a:r>
              <a:rPr lang="en-US" sz="1250" dirty="0">
                <a:solidFill>
                  <a:srgbClr val="4A4763"/>
                </a:solidFill>
                <a:latin typeface="Plus Jakarta Sans" pitchFamily="34" charset="0"/>
                <a:ea typeface="Plus Jakarta Sans" pitchFamily="34" charset="-122"/>
                <a:cs typeface="Plus Jakarta Sans" pitchFamily="34" charset="-120"/>
              </a:rPr>
              <a:t> things appearing, leaving, a count changing, a task done.</a:t>
            </a:r>
            <a:endParaRPr lang="en-US" sz="1250" dirty="0"/>
          </a:p>
        </p:txBody>
      </p:sp>
      <p:sp>
        <p:nvSpPr>
          <p:cNvPr id="18" name="Text 15"/>
          <p:cNvSpPr/>
          <p:nvPr/>
        </p:nvSpPr>
        <p:spPr>
          <a:xfrm>
            <a:off x="8204200" y="4356100"/>
            <a:ext cx="38100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1838"/>
                </a:solidFill>
                <a:latin typeface="Plus Jakarta Sans" pitchFamily="34" charset="0"/>
                <a:ea typeface="Plus Jakarta Sans" pitchFamily="34" charset="-122"/>
                <a:cs typeface="Plus Jakarta Sans" pitchFamily="34" charset="-120"/>
              </a:rPr>
              <a:t>Never:</a:t>
            </a:r>
            <a:r>
              <a:rPr lang="en-US" sz="1250" dirty="0">
                <a:solidFill>
                  <a:srgbClr val="4A4763"/>
                </a:solidFill>
                <a:latin typeface="Plus Jakarta Sans" pitchFamily="34" charset="0"/>
                <a:ea typeface="Plus Jakarta Sans" pitchFamily="34" charset="-122"/>
                <a:cs typeface="Plus Jakarta Sans" pitchFamily="34" charset="-120"/>
              </a:rPr>
              <a:t> table rows, loops, bounce on data.</a:t>
            </a:r>
            <a:endParaRPr lang="en-US" sz="1250" dirty="0"/>
          </a:p>
        </p:txBody>
      </p:sp>
      <p:sp>
        <p:nvSpPr>
          <p:cNvPr id="19" name="Text 1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frontend/src/lib/motion.ts · PreferencesProvider.tsx · TasksHero.tsx · docs/design-system.md (Motion)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21CAF"/>
                </a:solidFill>
                <a:latin typeface="Plus Jakarta Sans" pitchFamily="34" charset="0"/>
                <a:ea typeface="Plus Jakarta Sans" pitchFamily="34" charset="-122"/>
                <a:cs typeface="Plus Jakarta Sans" pitchFamily="34" charset="-120"/>
              </a:rPr>
              <a:t>PART 2 · HELPER 2 · UI-UX-PRO-MAX</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An AI design skill: audit, install, ask</a:t>
            </a:r>
            <a:endParaRPr lang="en-US" sz="3200" dirty="0"/>
          </a:p>
        </p:txBody>
      </p:sp>
      <p:sp>
        <p:nvSpPr>
          <p:cNvPr id="4" name="Shape 2"/>
          <p:cNvSpPr/>
          <p:nvPr/>
        </p:nvSpPr>
        <p:spPr>
          <a:xfrm>
            <a:off x="812800" y="1778000"/>
            <a:ext cx="10566400" cy="1549400"/>
          </a:xfrm>
          <a:prstGeom prst="roundRect">
            <a:avLst>
              <a:gd name="adj" fmla="val 9836"/>
            </a:avLst>
          </a:prstGeom>
          <a:solidFill>
            <a:srgbClr val="1D1A39"/>
          </a:solidFill>
          <a:ln/>
        </p:spPr>
      </p:sp>
      <p:sp>
        <p:nvSpPr>
          <p:cNvPr id="5" name="Text 3"/>
          <p:cNvSpPr/>
          <p:nvPr/>
        </p:nvSpPr>
        <p:spPr>
          <a:xfrm>
            <a:off x="1041400" y="1955800"/>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audit: clone into an empty folder, look for network or shell calls</a:t>
            </a:r>
            <a:endParaRPr lang="en-US" sz="1200" dirty="0"/>
          </a:p>
        </p:txBody>
      </p:sp>
      <p:sp>
        <p:nvSpPr>
          <p:cNvPr id="6" name="Text 4"/>
          <p:cNvSpPr/>
          <p:nvPr/>
        </p:nvSpPr>
        <p:spPr>
          <a:xfrm>
            <a:off x="1041400" y="2197100"/>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git clone --depth 1 https://github.com/nextlevelbuilder/ui-ux-pro-max-skill dl/uiux</a:t>
            </a:r>
            <a:endParaRPr lang="en-US" sz="1200" dirty="0"/>
          </a:p>
        </p:txBody>
      </p:sp>
      <p:sp>
        <p:nvSpPr>
          <p:cNvPr id="7" name="Text 5"/>
          <p:cNvSpPr/>
          <p:nvPr/>
        </p:nvSpPr>
        <p:spPr>
          <a:xfrm>
            <a:off x="1041400" y="2438400"/>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grep -nE "subprocess|urlopen|requests|os\.system|eval\(" dl/uiux/.claude/skills/ui-ux-pro-max/scripts/*</a:t>
            </a:r>
            <a:endParaRPr lang="en-US" sz="1200" dirty="0"/>
          </a:p>
        </p:txBody>
      </p:sp>
      <p:sp>
        <p:nvSpPr>
          <p:cNvPr id="8" name="Text 6"/>
          <p:cNvSpPr/>
          <p:nvPr/>
        </p:nvSpPr>
        <p:spPr>
          <a:xfrm>
            <a:off x="1041400" y="2679700"/>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installed at .claude/skills/ui-ux-pro-max/ · ask it from the repo root:</a:t>
            </a:r>
            <a:endParaRPr lang="en-US" sz="1200" dirty="0"/>
          </a:p>
        </p:txBody>
      </p:sp>
      <p:sp>
        <p:nvSpPr>
          <p:cNvPr id="9" name="Text 7"/>
          <p:cNvSpPr/>
          <p:nvPr/>
        </p:nvSpPr>
        <p:spPr>
          <a:xfrm>
            <a:off x="1041400" y="2921000"/>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python3 .claude/skills/ui-ux-pro-max/scripts/search.py "focus visible keyboard" --domain ux</a:t>
            </a:r>
            <a:endParaRPr lang="en-US" sz="1200" dirty="0"/>
          </a:p>
        </p:txBody>
      </p:sp>
      <p:sp>
        <p:nvSpPr>
          <p:cNvPr id="10" name="Shape 8"/>
          <p:cNvSpPr/>
          <p:nvPr/>
        </p:nvSpPr>
        <p:spPr>
          <a:xfrm>
            <a:off x="815975" y="3533775"/>
            <a:ext cx="3414157" cy="1254760"/>
          </a:xfrm>
          <a:prstGeom prst="roundRect">
            <a:avLst>
              <a:gd name="adj" fmla="val 11893"/>
            </a:avLst>
          </a:prstGeom>
          <a:solidFill>
            <a:srgbClr val="FFFFFF"/>
          </a:solidFill>
          <a:ln w="6350">
            <a:solidFill>
              <a:srgbClr val="E6E3F2"/>
            </a:solidFill>
            <a:prstDash val="solid"/>
          </a:ln>
        </p:spPr>
      </p:sp>
      <p:sp>
        <p:nvSpPr>
          <p:cNvPr id="11" name="Text 9"/>
          <p:cNvSpPr/>
          <p:nvPr/>
        </p:nvSpPr>
        <p:spPr>
          <a:xfrm>
            <a:off x="1021080" y="3713479"/>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7D5B"/>
                </a:solidFill>
                <a:latin typeface="Plus Jakarta Sans" pitchFamily="34" charset="0"/>
                <a:ea typeface="Plus Jakarta Sans" pitchFamily="34" charset="-122"/>
                <a:cs typeface="Plus Jakarta Sans" pitchFamily="34" charset="-120"/>
              </a:rPr>
              <a:t>Kept</a:t>
            </a:r>
            <a:endParaRPr lang="en-US" sz="1500" dirty="0"/>
          </a:p>
        </p:txBody>
      </p:sp>
      <p:sp>
        <p:nvSpPr>
          <p:cNvPr id="12" name="Text 10"/>
          <p:cNvSpPr/>
          <p:nvPr/>
        </p:nvSpPr>
        <p:spPr>
          <a:xfrm>
            <a:off x="1021080" y="3942079"/>
            <a:ext cx="3094065"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4763"/>
                </a:solidFill>
                <a:latin typeface="Plus Jakarta Sans" pitchFamily="34" charset="0"/>
                <a:ea typeface="Plus Jakarta Sans" pitchFamily="34" charset="-122"/>
                <a:cs typeface="Plus Jakarta Sans" pitchFamily="34" charset="-120"/>
              </a:rPr>
              <a:t>Reduced motion, 1–2 animations per view, no bounce on tables, Plus Jakarta Sans</a:t>
            </a:r>
            <a:endParaRPr lang="en-US" sz="1250" dirty="0"/>
          </a:p>
        </p:txBody>
      </p:sp>
      <p:sp>
        <p:nvSpPr>
          <p:cNvPr id="13" name="Shape 11"/>
          <p:cNvSpPr/>
          <p:nvPr/>
        </p:nvSpPr>
        <p:spPr>
          <a:xfrm>
            <a:off x="4388882" y="3533775"/>
            <a:ext cx="3414197" cy="1254760"/>
          </a:xfrm>
          <a:prstGeom prst="roundRect">
            <a:avLst>
              <a:gd name="adj" fmla="val 11893"/>
            </a:avLst>
          </a:prstGeom>
          <a:solidFill>
            <a:srgbClr val="FFFFFF"/>
          </a:solidFill>
          <a:ln w="6350">
            <a:solidFill>
              <a:srgbClr val="E6E3F2"/>
            </a:solidFill>
            <a:prstDash val="solid"/>
          </a:ln>
        </p:spPr>
      </p:sp>
      <p:sp>
        <p:nvSpPr>
          <p:cNvPr id="14" name="Text 12"/>
          <p:cNvSpPr/>
          <p:nvPr/>
        </p:nvSpPr>
        <p:spPr>
          <a:xfrm>
            <a:off x="4593987" y="3713479"/>
            <a:ext cx="30941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A3412"/>
                </a:solidFill>
                <a:latin typeface="Plus Jakarta Sans" pitchFamily="34" charset="0"/>
                <a:ea typeface="Plus Jakarta Sans" pitchFamily="34" charset="-122"/>
                <a:cs typeface="Plus Jakarta Sans" pitchFamily="34" charset="-120"/>
              </a:rPr>
              <a:t>Rejected</a:t>
            </a:r>
            <a:endParaRPr lang="en-US" sz="1500" dirty="0"/>
          </a:p>
        </p:txBody>
      </p:sp>
      <p:sp>
        <p:nvSpPr>
          <p:cNvPr id="15" name="Text 13"/>
          <p:cNvSpPr/>
          <p:nvPr/>
        </p:nvSpPr>
        <p:spPr>
          <a:xfrm>
            <a:off x="4593987" y="3942079"/>
            <a:ext cx="309410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4763"/>
                </a:solidFill>
                <a:latin typeface="Plus Jakarta Sans" pitchFamily="34" charset="0"/>
                <a:ea typeface="Plus Jakarta Sans" pitchFamily="34" charset="-122"/>
                <a:cs typeface="Plus Jakarta Sans" pitchFamily="34" charset="-120"/>
              </a:rPr>
              <a:t>Its teal palette (brand stays indigo), its GSAP snippets (we use Motion)</a:t>
            </a:r>
            <a:endParaRPr lang="en-US" sz="1250" dirty="0"/>
          </a:p>
        </p:txBody>
      </p:sp>
      <p:sp>
        <p:nvSpPr>
          <p:cNvPr id="16" name="Shape 14"/>
          <p:cNvSpPr/>
          <p:nvPr/>
        </p:nvSpPr>
        <p:spPr>
          <a:xfrm>
            <a:off x="7961829" y="3533775"/>
            <a:ext cx="3414197" cy="1254760"/>
          </a:xfrm>
          <a:prstGeom prst="roundRect">
            <a:avLst>
              <a:gd name="adj" fmla="val 11893"/>
            </a:avLst>
          </a:prstGeom>
          <a:solidFill>
            <a:srgbClr val="FFFFFF"/>
          </a:solidFill>
          <a:ln w="6350">
            <a:solidFill>
              <a:srgbClr val="E6E3F2"/>
            </a:solidFill>
            <a:prstDash val="solid"/>
          </a:ln>
        </p:spPr>
      </p:sp>
      <p:sp>
        <p:nvSpPr>
          <p:cNvPr id="17" name="Text 15"/>
          <p:cNvSpPr/>
          <p:nvPr/>
        </p:nvSpPr>
        <p:spPr>
          <a:xfrm>
            <a:off x="8166933" y="3713479"/>
            <a:ext cx="30941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B4BDB"/>
                </a:solidFill>
                <a:latin typeface="Plus Jakarta Sans" pitchFamily="34" charset="0"/>
                <a:ea typeface="Plus Jakarta Sans" pitchFamily="34" charset="-122"/>
                <a:cs typeface="Plus Jakarta Sans" pitchFamily="34" charset="-120"/>
              </a:rPr>
              <a:t>Guarded</a:t>
            </a:r>
            <a:endParaRPr lang="en-US" sz="1500" dirty="0"/>
          </a:p>
        </p:txBody>
      </p:sp>
      <p:sp>
        <p:nvSpPr>
          <p:cNvPr id="18" name="Text 16"/>
          <p:cNvSpPr/>
          <p:nvPr/>
        </p:nvSpPr>
        <p:spPr>
          <a:xfrm>
            <a:off x="8166933" y="3942079"/>
            <a:ext cx="309410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4763"/>
                </a:solidFill>
                <a:latin typeface="Plus Jakarta Sans" pitchFamily="34" charset="0"/>
                <a:ea typeface="Plus Jakarta Sans" pitchFamily="34" charset="-122"/>
                <a:cs typeface="Plus Jakarta Sans" pitchFamily="34" charset="-120"/>
              </a:rPr>
              <a:t>A TaskFlow note at the top of SKILL.md: our rules win</a:t>
            </a:r>
            <a:endParaRPr lang="en-US" sz="1250" dirty="0"/>
          </a:p>
        </p:txBody>
      </p:sp>
      <p:sp>
        <p:nvSpPr>
          <p:cNvPr id="19" name="Text 1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.claude/skills/ui-ux-pro-max/SKILL.md (vendored at d14efff, MIT)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21CAF"/>
                </a:solidFill>
                <a:latin typeface="Plus Jakarta Sans" pitchFamily="34" charset="0"/>
                <a:ea typeface="Plus Jakarta Sans" pitchFamily="34" charset="-122"/>
                <a:cs typeface="Plus Jakarta Sans" pitchFamily="34" charset="-120"/>
              </a:rPr>
              <a:t>PART 2 · HELPER 3 · 21ST.DEV</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21st.dev: take the idea, not the code</a:t>
            </a:r>
            <a:endParaRPr lang="en-US" sz="3200" dirty="0"/>
          </a:p>
        </p:txBody>
      </p:sp>
      <p:sp>
        <p:nvSpPr>
          <p:cNvPr id="4" name="Text 2"/>
          <p:cNvSpPr/>
          <p:nvPr/>
        </p:nvSpPr>
        <p:spPr>
          <a:xfrm>
            <a:off x="812800" y="2370776"/>
            <a:ext cx="5546344" cy="55943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4763"/>
                </a:solidFill>
                <a:latin typeface="Plus Jakarta Sans" pitchFamily="34" charset="0"/>
                <a:ea typeface="Plus Jakarta Sans" pitchFamily="34" charset="-122"/>
                <a:cs typeface="Plus Jakarta Sans" pitchFamily="34" charset="-120"/>
              </a:rPr>
              <a:t>21st.dev is a gallery of React components built on </a:t>
            </a:r>
            <a:r>
              <a:rPr lang="en-US" sz="1450" b="1" dirty="0">
                <a:solidFill>
                  <a:srgbClr val="4A4763"/>
                </a:solidFill>
                <a:latin typeface="Plus Jakarta Sans" pitchFamily="34" charset="0"/>
                <a:ea typeface="Plus Jakarta Sans" pitchFamily="34" charset="-122"/>
                <a:cs typeface="Plus Jakarta Sans" pitchFamily="34" charset="-120"/>
              </a:rPr>
              <a:t>shadcn + Radix + Tailwind colours</a:t>
            </a:r>
            <a:r>
              <a:rPr lang="en-US" sz="1450" dirty="0">
                <a:solidFill>
                  <a:srgbClr val="4A4763"/>
                </a:solidFill>
                <a:latin typeface="Plus Jakarta Sans" pitchFamily="34" charset="0"/>
                <a:ea typeface="Plus Jakarta Sans" pitchFamily="34" charset="-122"/>
                <a:cs typeface="Plus Jakarta Sans" pitchFamily="34" charset="-120"/>
              </a:rPr>
              <a:t>.</a:t>
            </a:r>
            <a:endParaRPr lang="en-US" sz="1450" dirty="0"/>
          </a:p>
        </p:txBody>
      </p:sp>
      <p:sp>
        <p:nvSpPr>
          <p:cNvPr id="5" name="Text 3"/>
          <p:cNvSpPr/>
          <p:nvPr/>
        </p:nvSpPr>
        <p:spPr>
          <a:xfrm>
            <a:off x="812800" y="3069909"/>
            <a:ext cx="5546344" cy="55943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4763"/>
                </a:solidFill>
                <a:latin typeface="Plus Jakarta Sans" pitchFamily="34" charset="0"/>
                <a:ea typeface="Plus Jakarta Sans" pitchFamily="34" charset="-122"/>
                <a:cs typeface="Plus Jakarta Sans" pitchFamily="34" charset="-120"/>
              </a:rPr>
              <a:t>Our rule: </a:t>
            </a:r>
            <a:r>
              <a:rPr lang="en-US" sz="1450" b="1" dirty="0">
                <a:solidFill>
                  <a:srgbClr val="1B1838"/>
                </a:solidFill>
                <a:latin typeface="Plus Jakarta Sans" pitchFamily="34" charset="0"/>
                <a:ea typeface="Plus Jakarta Sans" pitchFamily="34" charset="-122"/>
                <a:cs typeface="Plus Jakarta Sans" pitchFamily="34" charset="-120"/>
              </a:rPr>
              <a:t>Ant Design owns components and colours.</a:t>
            </a:r>
            <a:r>
              <a:rPr lang="en-US" sz="1450" dirty="0">
                <a:solidFill>
                  <a:srgbClr val="4A4763"/>
                </a:solidFill>
                <a:latin typeface="Plus Jakarta Sans" pitchFamily="34" charset="0"/>
                <a:ea typeface="Plus Jakarta Sans" pitchFamily="34" charset="-122"/>
                <a:cs typeface="Plus Jakarta Sans" pitchFamily="34" charset="-120"/>
              </a:rPr>
              <a:t> Pasting its code would add a second styling system.</a:t>
            </a:r>
            <a:endParaRPr lang="en-US" sz="1450" dirty="0"/>
          </a:p>
        </p:txBody>
      </p:sp>
      <p:sp>
        <p:nvSpPr>
          <p:cNvPr id="6" name="Text 4"/>
          <p:cNvSpPr/>
          <p:nvPr/>
        </p:nvSpPr>
        <p:spPr>
          <a:xfrm>
            <a:off x="812800" y="3769041"/>
            <a:ext cx="5546344" cy="55943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A4763"/>
                </a:solidFill>
                <a:latin typeface="Plus Jakarta Sans" pitchFamily="34" charset="0"/>
                <a:ea typeface="Plus Jakarta Sans" pitchFamily="34" charset="-122"/>
                <a:cs typeface="Plus Jakarta Sans" pitchFamily="34" charset="-120"/>
              </a:rPr>
              <a:t>So: browse for ideas → rebuild with Ant Design tokens. Here: glow + dot grid + split sign-in.</a:t>
            </a:r>
            <a:endParaRPr lang="en-US" sz="1450" dirty="0"/>
          </a:p>
        </p:txBody>
      </p:sp>
      <p:pic>
        <p:nvPicPr>
          <p:cNvPr id="7" name="Image 0" descr="TaskFlow sign-in page: gradient brand panel on the left, form on a dot-grid background on the right">    </p:cNvPr>
          <p:cNvPicPr>
            <a:picLocks noChangeAspect="1"/>
          </p:cNvPicPr>
          <p:nvPr/>
        </p:nvPicPr>
        <p:blipFill>
          <a:blip r:embed="rId1"/>
          <a:srcRect l="0" r="0" t="79" b="79"/>
          <a:stretch/>
        </p:blipFill>
        <p:spPr>
          <a:xfrm>
            <a:off x="6559550" y="1835150"/>
            <a:ext cx="4813300" cy="3003550"/>
          </a:xfrm>
          <a:prstGeom prst="roundRect">
            <a:avLst>
              <a:gd name="adj" fmla="val 4863"/>
            </a:avLst>
          </a:prstGeom>
        </p:spPr>
      </p:pic>
      <p:sp>
        <p:nvSpPr>
          <p:cNvPr id="8" name="Shape 5"/>
          <p:cNvSpPr/>
          <p:nvPr/>
        </p:nvSpPr>
        <p:spPr>
          <a:xfrm>
            <a:off x="6556375" y="1831975"/>
            <a:ext cx="4819650" cy="3009900"/>
          </a:xfrm>
          <a:prstGeom prst="roundRect">
            <a:avLst>
              <a:gd name="adj" fmla="val 4958"/>
            </a:avLst>
          </a:prstGeom>
          <a:noFill/>
          <a:ln w="6350">
            <a:solidFill>
              <a:srgbClr val="E6E3F2"/>
            </a:solidFill>
            <a:prstDash val="solid"/>
          </a:ln>
        </p:spPr>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frontend/CLAUDE.md, Conventions · features/auth/AuthLayout.tsx · index.css (.auth-backdrop)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21CAF"/>
                </a:solidFill>
                <a:latin typeface="Plus Jakarta Sans" pitchFamily="34" charset="0"/>
                <a:ea typeface="Plus Jakarta Sans" pitchFamily="34" charset="-122"/>
                <a:cs typeface="Plus Jakarta Sans" pitchFamily="34" charset="-120"/>
              </a:rPr>
              <a:t>PART 2 · THE RESULT</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The result, and the rules that keep it</a:t>
            </a:r>
            <a:endParaRPr lang="en-US" sz="3200" dirty="0"/>
          </a:p>
        </p:txBody>
      </p:sp>
      <p:sp>
        <p:nvSpPr>
          <p:cNvPr id="4" name="Shape 2"/>
          <p:cNvSpPr/>
          <p:nvPr/>
        </p:nvSpPr>
        <p:spPr>
          <a:xfrm>
            <a:off x="812800" y="1727200"/>
            <a:ext cx="5194300" cy="1739900"/>
          </a:xfrm>
          <a:prstGeom prst="roundRect">
            <a:avLst>
              <a:gd name="adj" fmla="val 7299"/>
            </a:avLst>
          </a:prstGeom>
          <a:solidFill>
            <a:srgbClr val="F1EFF8"/>
          </a:solidFill>
          <a:ln/>
        </p:spPr>
      </p:sp>
      <p:pic>
        <p:nvPicPr>
          <p:cNvPr id="5" name="Image 0" descr="Gradient hero with greeting, progress ring and summary cards">    </p:cNvPr>
          <p:cNvPicPr>
            <a:picLocks noChangeAspect="1"/>
          </p:cNvPicPr>
          <p:nvPr/>
        </p:nvPicPr>
        <p:blipFill>
          <a:blip r:embed="rId1"/>
          <a:srcRect l="0" r="0" t="-245" b="-245"/>
          <a:stretch/>
        </p:blipFill>
        <p:spPr>
          <a:xfrm>
            <a:off x="812800" y="1727200"/>
            <a:ext cx="5194300" cy="1739900"/>
          </a:xfrm>
          <a:prstGeom prst="roundRect">
            <a:avLst>
              <a:gd name="adj" fmla="val 7299"/>
            </a:avLst>
          </a:prstGeom>
        </p:spPr>
      </p:pic>
      <p:sp>
        <p:nvSpPr>
          <p:cNvPr id="6" name="Shape 3"/>
          <p:cNvSpPr/>
          <p:nvPr/>
        </p:nvSpPr>
        <p:spPr>
          <a:xfrm>
            <a:off x="6184900" y="1727200"/>
            <a:ext cx="5194300" cy="1739900"/>
          </a:xfrm>
          <a:prstGeom prst="roundRect">
            <a:avLst>
              <a:gd name="adj" fmla="val 7299"/>
            </a:avLst>
          </a:prstGeom>
          <a:solidFill>
            <a:srgbClr val="F1EFF8"/>
          </a:solidFill>
          <a:ln/>
        </p:spPr>
      </p:sp>
      <p:pic>
        <p:nvPicPr>
          <p:cNvPr id="7" name="Image 1" descr="Three charts: status breakdown, priority by status, new tasks per week">    </p:cNvPr>
          <p:cNvPicPr>
            <a:picLocks noChangeAspect="1"/>
          </p:cNvPicPr>
          <p:nvPr/>
        </p:nvPicPr>
        <p:blipFill>
          <a:blip r:embed="rId2"/>
          <a:stretch>
            <a:fillRect/>
          </a:stretch>
        </p:blipFill>
        <p:spPr>
          <a:xfrm>
            <a:off x="6184900" y="1822561"/>
            <a:ext cx="5194300" cy="1549177"/>
          </a:xfrm>
          <a:custGeom>
            <a:avLst/>
            <a:gdLst/>
            <a:ahLst/>
            <a:cxnLst/>
            <a:rect l="l" t="t" r="r" b="b"/>
            <a:pathLst>
              <a:path w="5194300" h="1549177">
                <a:moveTo>
                  <a:pt x="0" y="31639"/>
                </a:moveTo>
                <a:arcTo wR="127000" hR="127000" stAng="10800000" swAng="865537"/>
                <a:lnTo>
                  <a:pt x="5190296" y="0"/>
                </a:lnTo>
                <a:arcTo wR="127000" hR="127000" stAng="20734463" swAng="865537"/>
                <a:lnTo>
                  <a:pt x="5194300" y="1517539"/>
                </a:lnTo>
                <a:arcTo wR="127000" hR="127000" stAng="0" swAng="865537"/>
                <a:lnTo>
                  <a:pt x="4004" y="1549177"/>
                </a:lnTo>
                <a:arcTo wR="127000" hR="127000" stAng="9934463" swAng="865537"/>
                <a:close/>
              </a:path>
            </a:pathLst>
          </a:custGeom>
        </p:spPr>
      </p:pic>
      <p:sp>
        <p:nvSpPr>
          <p:cNvPr id="8" name="Shape 4"/>
          <p:cNvSpPr/>
          <p:nvPr/>
        </p:nvSpPr>
        <p:spPr>
          <a:xfrm>
            <a:off x="815975" y="3648075"/>
            <a:ext cx="3414157" cy="1032510"/>
          </a:xfrm>
          <a:prstGeom prst="roundRect">
            <a:avLst>
              <a:gd name="adj" fmla="val 14453"/>
            </a:avLst>
          </a:prstGeom>
          <a:solidFill>
            <a:srgbClr val="FFFFFF"/>
          </a:solidFill>
          <a:ln w="6350">
            <a:solidFill>
              <a:srgbClr val="E6E3F2"/>
            </a:solidFill>
            <a:prstDash val="solid"/>
          </a:ln>
        </p:spPr>
      </p:sp>
      <p:sp>
        <p:nvSpPr>
          <p:cNvPr id="9" name="Text 5"/>
          <p:cNvSpPr/>
          <p:nvPr/>
        </p:nvSpPr>
        <p:spPr>
          <a:xfrm>
            <a:off x="1021080" y="3827779"/>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838"/>
                </a:solidFill>
                <a:latin typeface="Plus Jakarta Sans" pitchFamily="34" charset="0"/>
                <a:ea typeface="Plus Jakarta Sans" pitchFamily="34" charset="-122"/>
                <a:cs typeface="Plus Jakarta Sans" pitchFamily="34" charset="-120"/>
              </a:rPr>
              <a:t>docs/design-system.md</a:t>
            </a:r>
            <a:endParaRPr lang="en-US" sz="1500" dirty="0"/>
          </a:p>
        </p:txBody>
      </p:sp>
      <p:sp>
        <p:nvSpPr>
          <p:cNvPr id="10" name="Text 6"/>
          <p:cNvSpPr/>
          <p:nvPr/>
        </p:nvSpPr>
        <p:spPr>
          <a:xfrm>
            <a:off x="1021080" y="4056379"/>
            <a:ext cx="309406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4763"/>
                </a:solidFill>
                <a:latin typeface="Plus Jakarta Sans" pitchFamily="34" charset="0"/>
                <a:ea typeface="Plus Jakarta Sans" pitchFamily="34" charset="-122"/>
                <a:cs typeface="Plus Jakarta Sans" pitchFamily="34" charset="-120"/>
              </a:rPr>
              <a:t>Colours, type scale, motion, chart rules, a UI checklist</a:t>
            </a:r>
            <a:endParaRPr lang="en-US" sz="1250" dirty="0"/>
          </a:p>
        </p:txBody>
      </p:sp>
      <p:sp>
        <p:nvSpPr>
          <p:cNvPr id="11" name="Shape 7"/>
          <p:cNvSpPr/>
          <p:nvPr/>
        </p:nvSpPr>
        <p:spPr>
          <a:xfrm>
            <a:off x="4388882" y="3648075"/>
            <a:ext cx="3414197" cy="1032510"/>
          </a:xfrm>
          <a:prstGeom prst="roundRect">
            <a:avLst>
              <a:gd name="adj" fmla="val 14453"/>
            </a:avLst>
          </a:prstGeom>
          <a:solidFill>
            <a:srgbClr val="FFFFFF"/>
          </a:solidFill>
          <a:ln w="6350">
            <a:solidFill>
              <a:srgbClr val="E6E3F2"/>
            </a:solidFill>
            <a:prstDash val="solid"/>
          </a:ln>
        </p:spPr>
      </p:sp>
      <p:sp>
        <p:nvSpPr>
          <p:cNvPr id="12" name="Text 8"/>
          <p:cNvSpPr/>
          <p:nvPr/>
        </p:nvSpPr>
        <p:spPr>
          <a:xfrm>
            <a:off x="4593987" y="3827779"/>
            <a:ext cx="30941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838"/>
                </a:solidFill>
                <a:latin typeface="Plus Jakarta Sans" pitchFamily="34" charset="0"/>
                <a:ea typeface="Plus Jakarta Sans" pitchFamily="34" charset="-122"/>
                <a:cs typeface="Plus Jakarta Sans" pitchFamily="34" charset="-120"/>
              </a:rPr>
              <a:t>docs/features/dashboard.md</a:t>
            </a:r>
            <a:endParaRPr lang="en-US" sz="1500" dirty="0"/>
          </a:p>
        </p:txBody>
      </p:sp>
      <p:sp>
        <p:nvSpPr>
          <p:cNvPr id="13" name="Text 9"/>
          <p:cNvSpPr/>
          <p:nvPr/>
        </p:nvSpPr>
        <p:spPr>
          <a:xfrm>
            <a:off x="4593987" y="4056379"/>
            <a:ext cx="309410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4763"/>
                </a:solidFill>
                <a:latin typeface="Plus Jakarta Sans" pitchFamily="34" charset="0"/>
                <a:ea typeface="Plus Jakarta Sans" pitchFamily="34" charset="-122"/>
                <a:cs typeface="Plus Jakarta Sans" pitchFamily="34" charset="-120"/>
              </a:rPr>
              <a:t>The plan: goal, API, files, tests, open work</a:t>
            </a:r>
            <a:endParaRPr lang="en-US" sz="1250" dirty="0"/>
          </a:p>
        </p:txBody>
      </p:sp>
      <p:sp>
        <p:nvSpPr>
          <p:cNvPr id="14" name="Shape 10"/>
          <p:cNvSpPr/>
          <p:nvPr/>
        </p:nvSpPr>
        <p:spPr>
          <a:xfrm>
            <a:off x="7961829" y="3648075"/>
            <a:ext cx="3414197" cy="1032510"/>
          </a:xfrm>
          <a:prstGeom prst="roundRect">
            <a:avLst>
              <a:gd name="adj" fmla="val 14453"/>
            </a:avLst>
          </a:prstGeom>
          <a:solidFill>
            <a:srgbClr val="FFFFFF"/>
          </a:solidFill>
          <a:ln w="6350">
            <a:solidFill>
              <a:srgbClr val="E6E3F2"/>
            </a:solidFill>
            <a:prstDash val="solid"/>
          </a:ln>
        </p:spPr>
      </p:sp>
      <p:sp>
        <p:nvSpPr>
          <p:cNvPr id="15" name="Text 11"/>
          <p:cNvSpPr/>
          <p:nvPr/>
        </p:nvSpPr>
        <p:spPr>
          <a:xfrm>
            <a:off x="8166933" y="3827779"/>
            <a:ext cx="30941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838"/>
                </a:solidFill>
                <a:latin typeface="Plus Jakarta Sans" pitchFamily="34" charset="0"/>
                <a:ea typeface="Plus Jakarta Sans" pitchFamily="34" charset="-122"/>
                <a:cs typeface="Plus Jakarta Sans" pitchFamily="34" charset="-120"/>
              </a:rPr>
              <a:t>“Plan first” rule</a:t>
            </a:r>
            <a:endParaRPr lang="en-US" sz="1500" dirty="0"/>
          </a:p>
        </p:txBody>
      </p:sp>
      <p:sp>
        <p:nvSpPr>
          <p:cNvPr id="16" name="Text 12"/>
          <p:cNvSpPr/>
          <p:nvPr/>
        </p:nvSpPr>
        <p:spPr>
          <a:xfrm>
            <a:off x="8166933" y="4056379"/>
            <a:ext cx="309410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4763"/>
                </a:solidFill>
                <a:latin typeface="Plus Jakarta Sans" pitchFamily="34" charset="0"/>
                <a:ea typeface="Plus Jakarta Sans" pitchFamily="34" charset="-122"/>
                <a:cs typeface="Plus Jakarta Sans" pitchFamily="34" charset="-120"/>
              </a:rPr>
              <a:t>In CLAUDE.md: agree the spec before coding</a:t>
            </a:r>
            <a:endParaRPr lang="en-US" sz="1250" dirty="0"/>
          </a:p>
        </p:txBody>
      </p:sp>
      <p:sp>
        <p:nvSpPr>
          <p:cNvPr id="17"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docs/design-system.md · docs/features/dashboard.md · CLAUDE.md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83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AEFF"/>
                </a:solidFill>
                <a:latin typeface="Plus Jakarta Sans" pitchFamily="34" charset="0"/>
                <a:ea typeface="Plus Jakarta Sans" pitchFamily="34" charset="-122"/>
                <a:cs typeface="Plus Jakarta Sans" pitchFamily="34" charset="-120"/>
              </a:rPr>
              <a:t>PART 3 · THE CLAUDE SETUP</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3F1FF"/>
                </a:solidFill>
                <a:latin typeface="Plus Jakarta Sans" pitchFamily="34" charset="0"/>
                <a:ea typeface="Plus Jakarta Sans" pitchFamily="34" charset="-122"/>
                <a:cs typeface="Plus Jakarta Sans" pitchFamily="34" charset="-120"/>
              </a:rPr>
              <a:t>Everything Claude reads lives in the repo</a:t>
            </a:r>
            <a:endParaRPr lang="en-US" sz="3200" dirty="0"/>
          </a:p>
        </p:txBody>
      </p:sp>
      <p:sp>
        <p:nvSpPr>
          <p:cNvPr id="4" name="Shape 2"/>
          <p:cNvSpPr/>
          <p:nvPr/>
        </p:nvSpPr>
        <p:spPr>
          <a:xfrm>
            <a:off x="812800" y="1828800"/>
            <a:ext cx="7010400" cy="2651125"/>
          </a:xfrm>
          <a:prstGeom prst="roundRect">
            <a:avLst>
              <a:gd name="adj" fmla="val 5749"/>
            </a:avLst>
          </a:prstGeom>
          <a:solidFill>
            <a:srgbClr val="2A2650"/>
          </a:solidFill>
          <a:ln/>
        </p:spPr>
      </p:sp>
      <p:sp>
        <p:nvSpPr>
          <p:cNvPr id="5" name="Text 3"/>
          <p:cNvSpPr/>
          <p:nvPr/>
        </p:nvSpPr>
        <p:spPr>
          <a:xfrm>
            <a:off x="1066800" y="2032000"/>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CLAUDE.md </a:t>
            </a:r>
            <a:r>
              <a:rPr lang="en-US" sz="1250" dirty="0">
                <a:solidFill>
                  <a:srgbClr val="B9AEFF"/>
                </a:solidFill>
                <a:latin typeface="JetBrains Mono" pitchFamily="49" charset="0"/>
                <a:ea typeface="JetBrains Mono" pitchFamily="49" charset="-122"/>
                <a:cs typeface="JetBrains Mono" pitchFamily="49" charset="-120"/>
              </a:rPr>
              <a:t>rules: whole repo</a:t>
            </a:r>
            <a:endParaRPr lang="en-US" sz="1250" dirty="0"/>
          </a:p>
        </p:txBody>
      </p:sp>
      <p:sp>
        <p:nvSpPr>
          <p:cNvPr id="6" name="Text 4"/>
          <p:cNvSpPr/>
          <p:nvPr/>
        </p:nvSpPr>
        <p:spPr>
          <a:xfrm>
            <a:off x="1066800" y="2282825"/>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backend/CLAUDE.md </a:t>
            </a:r>
            <a:r>
              <a:rPr lang="en-US" sz="1250" dirty="0">
                <a:solidFill>
                  <a:srgbClr val="B9AEFF"/>
                </a:solidFill>
                <a:latin typeface="JetBrains Mono" pitchFamily="49" charset="0"/>
                <a:ea typeface="JetBrains Mono" pitchFamily="49" charset="-122"/>
                <a:cs typeface="JetBrains Mono" pitchFamily="49" charset="-120"/>
              </a:rPr>
              <a:t>Django rules</a:t>
            </a:r>
            <a:endParaRPr lang="en-US" sz="1250" dirty="0"/>
          </a:p>
        </p:txBody>
      </p:sp>
      <p:sp>
        <p:nvSpPr>
          <p:cNvPr id="7" name="Text 5"/>
          <p:cNvSpPr/>
          <p:nvPr/>
        </p:nvSpPr>
        <p:spPr>
          <a:xfrm>
            <a:off x="1066800" y="2533650"/>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frontend/CLAUDE.md </a:t>
            </a:r>
            <a:r>
              <a:rPr lang="en-US" sz="1250" dirty="0">
                <a:solidFill>
                  <a:srgbClr val="B9AEFF"/>
                </a:solidFill>
                <a:latin typeface="JetBrains Mono" pitchFamily="49" charset="0"/>
                <a:ea typeface="JetBrains Mono" pitchFamily="49" charset="-122"/>
                <a:cs typeface="JetBrains Mono" pitchFamily="49" charset="-120"/>
              </a:rPr>
              <a:t>React rules</a:t>
            </a:r>
            <a:endParaRPr lang="en-US" sz="1250" dirty="0"/>
          </a:p>
        </p:txBody>
      </p:sp>
      <p:sp>
        <p:nvSpPr>
          <p:cNvPr id="8" name="Text 6"/>
          <p:cNvSpPr/>
          <p:nvPr/>
        </p:nvSpPr>
        <p:spPr>
          <a:xfrm>
            <a:off x="1066800" y="2784475"/>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.claude/</a:t>
            </a:r>
            <a:endParaRPr lang="en-US" sz="1250" dirty="0"/>
          </a:p>
        </p:txBody>
      </p:sp>
      <p:sp>
        <p:nvSpPr>
          <p:cNvPr id="9" name="Text 7"/>
          <p:cNvSpPr/>
          <p:nvPr/>
        </p:nvSpPr>
        <p:spPr>
          <a:xfrm>
            <a:off x="1066800" y="3035300"/>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  commands/ </a:t>
            </a:r>
            <a:r>
              <a:rPr lang="en-US" sz="1250" dirty="0">
                <a:solidFill>
                  <a:srgbClr val="B9AEFF"/>
                </a:solidFill>
                <a:latin typeface="JetBrains Mono" pitchFamily="49" charset="0"/>
                <a:ea typeface="JetBrains Mono" pitchFamily="49" charset="-122"/>
                <a:cs typeface="JetBrains Mono" pitchFamily="49" charset="-120"/>
              </a:rPr>
              <a:t>/dev /check /review /commit</a:t>
            </a:r>
            <a:endParaRPr lang="en-US" sz="1250" dirty="0"/>
          </a:p>
        </p:txBody>
      </p:sp>
      <p:sp>
        <p:nvSpPr>
          <p:cNvPr id="10" name="Text 8"/>
          <p:cNvSpPr/>
          <p:nvPr/>
        </p:nvSpPr>
        <p:spPr>
          <a:xfrm>
            <a:off x="1066800" y="3286125"/>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  skills/ </a:t>
            </a:r>
            <a:r>
              <a:rPr lang="en-US" sz="1250" dirty="0">
                <a:solidFill>
                  <a:srgbClr val="B9AEFF"/>
                </a:solidFill>
                <a:latin typeface="JetBrains Mono" pitchFamily="49" charset="0"/>
                <a:ea typeface="JetBrains Mono" pitchFamily="49" charset="-122"/>
                <a:cs typeface="JetBrains Mono" pitchFamily="49" charset="-120"/>
              </a:rPr>
              <a:t>add-api-endpoint, ui-ux-pro-max …</a:t>
            </a:r>
            <a:endParaRPr lang="en-US" sz="1250" dirty="0"/>
          </a:p>
        </p:txBody>
      </p:sp>
      <p:sp>
        <p:nvSpPr>
          <p:cNvPr id="11" name="Text 9"/>
          <p:cNvSpPr/>
          <p:nvPr/>
        </p:nvSpPr>
        <p:spPr>
          <a:xfrm>
            <a:off x="1066800" y="3536950"/>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  agents/ </a:t>
            </a:r>
            <a:r>
              <a:rPr lang="en-US" sz="1250" dirty="0">
                <a:solidFill>
                  <a:srgbClr val="B9AEFF"/>
                </a:solidFill>
                <a:latin typeface="JetBrains Mono" pitchFamily="49" charset="0"/>
                <a:ea typeface="JetBrains Mono" pitchFamily="49" charset="-122"/>
                <a:cs typeface="JetBrains Mono" pitchFamily="49" charset="-120"/>
              </a:rPr>
              <a:t>2 reviewers + test-writer</a:t>
            </a:r>
            <a:endParaRPr lang="en-US" sz="1250" dirty="0"/>
          </a:p>
        </p:txBody>
      </p:sp>
      <p:sp>
        <p:nvSpPr>
          <p:cNvPr id="12" name="Text 10"/>
          <p:cNvSpPr/>
          <p:nvPr/>
        </p:nvSpPr>
        <p:spPr>
          <a:xfrm>
            <a:off x="1066800" y="3787775"/>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  hooks/ </a:t>
            </a:r>
            <a:r>
              <a:rPr lang="en-US" sz="1250" dirty="0">
                <a:solidFill>
                  <a:srgbClr val="B9AEFF"/>
                </a:solidFill>
                <a:latin typeface="JetBrains Mono" pitchFamily="49" charset="0"/>
                <a:ea typeface="JetBrains Mono" pitchFamily="49" charset="-122"/>
                <a:cs typeface="JetBrains Mono" pitchFamily="49" charset="-120"/>
              </a:rPr>
              <a:t>block-secrets, format-on-edit</a:t>
            </a:r>
            <a:endParaRPr lang="en-US" sz="1250" dirty="0"/>
          </a:p>
        </p:txBody>
      </p:sp>
      <p:sp>
        <p:nvSpPr>
          <p:cNvPr id="13" name="Text 11"/>
          <p:cNvSpPr/>
          <p:nvPr/>
        </p:nvSpPr>
        <p:spPr>
          <a:xfrm>
            <a:off x="1066800" y="4038600"/>
            <a:ext cx="6697472" cy="263525"/>
          </a:xfrm>
          <a:prstGeom prst="rect">
            <a:avLst/>
          </a:prstGeom>
          <a:noFill/>
          <a:ln/>
        </p:spPr>
        <p:txBody>
          <a:bodyPr wrap="none" lIns="0" tIns="0" rIns="0" bIns="0" rtlCol="0" anchor="t">
            <a:normAutofit/>
          </a:bodyPr>
          <a:lstStyle/>
          <a:p>
            <a:pPr algn="l" indent="0" marL="0">
              <a:lnSpc>
                <a:spcPts val="1875"/>
              </a:lnSpc>
              <a:buNone/>
            </a:pPr>
            <a:r>
              <a:rPr lang="en-US" sz="1250" dirty="0">
                <a:solidFill>
                  <a:srgbClr val="F3F1FF"/>
                </a:solidFill>
                <a:latin typeface="JetBrains Mono" pitchFamily="49" charset="0"/>
                <a:ea typeface="JetBrains Mono" pitchFamily="49" charset="-122"/>
                <a:cs typeface="JetBrains Mono" pitchFamily="49" charset="-120"/>
              </a:rPr>
              <a:t>  settings.json </a:t>
            </a:r>
            <a:r>
              <a:rPr lang="en-US" sz="1250" dirty="0">
                <a:solidFill>
                  <a:srgbClr val="B9AEFF"/>
                </a:solidFill>
                <a:latin typeface="JetBrains Mono" pitchFamily="49" charset="0"/>
                <a:ea typeface="JetBrains Mono" pitchFamily="49" charset="-122"/>
                <a:cs typeface="JetBrains Mono" pitchFamily="49" charset="-120"/>
              </a:rPr>
              <a:t>allowed commands + hooks</a:t>
            </a:r>
            <a:endParaRPr lang="en-US" sz="1250" dirty="0"/>
          </a:p>
        </p:txBody>
      </p:sp>
      <p:sp>
        <p:nvSpPr>
          <p:cNvPr id="14" name="Text 12"/>
          <p:cNvSpPr/>
          <p:nvPr/>
        </p:nvSpPr>
        <p:spPr>
          <a:xfrm>
            <a:off x="8077200" y="1828800"/>
            <a:ext cx="340106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Plus Jakarta Sans" pitchFamily="34" charset="0"/>
                <a:ea typeface="Plus Jakarta Sans" pitchFamily="34" charset="-122"/>
                <a:cs typeface="Plus Jakarta Sans" pitchFamily="34" charset="-120"/>
              </a:rPr>
              <a:t>Committed to git</a:t>
            </a:r>
            <a:r>
              <a:rPr lang="en-US" sz="1400" dirty="0">
                <a:solidFill>
                  <a:srgbClr val="D9D4F5"/>
                </a:solidFill>
                <a:latin typeface="Plus Jakarta Sans" pitchFamily="34" charset="0"/>
                <a:ea typeface="Plus Jakarta Sans" pitchFamily="34" charset="-122"/>
                <a:cs typeface="Plus Jakarta Sans" pitchFamily="34" charset="-120"/>
              </a:rPr>
              <a:t>, so every teammate and every session gets the same setup.</a:t>
            </a:r>
            <a:endParaRPr lang="en-US" sz="1400" dirty="0"/>
          </a:p>
        </p:txBody>
      </p:sp>
      <p:sp>
        <p:nvSpPr>
          <p:cNvPr id="15" name="Text 13"/>
          <p:cNvSpPr/>
          <p:nvPr/>
        </p:nvSpPr>
        <p:spPr>
          <a:xfrm>
            <a:off x="8077200" y="2466342"/>
            <a:ext cx="340106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Plus Jakarta Sans" pitchFamily="34" charset="0"/>
                <a:ea typeface="Plus Jakarta Sans" pitchFamily="34" charset="-122"/>
                <a:cs typeface="Plus Jakarta Sans" pitchFamily="34" charset="-120"/>
              </a:rPr>
              <a:t>Rules</a:t>
            </a:r>
            <a:r>
              <a:rPr lang="en-US" sz="1400" dirty="0">
                <a:solidFill>
                  <a:srgbClr val="D9D4F5"/>
                </a:solidFill>
                <a:latin typeface="Plus Jakarta Sans" pitchFamily="34" charset="0"/>
                <a:ea typeface="Plus Jakarta Sans" pitchFamily="34" charset="-122"/>
                <a:cs typeface="Plus Jakarta Sans" pitchFamily="34" charset="-120"/>
              </a:rPr>
              <a:t> say what to do. </a:t>
            </a:r>
            <a:r>
              <a:rPr lang="en-US" sz="1400" b="1" dirty="0">
                <a:solidFill>
                  <a:srgbClr val="FFFFFF"/>
                </a:solidFill>
                <a:latin typeface="Plus Jakarta Sans" pitchFamily="34" charset="0"/>
                <a:ea typeface="Plus Jakarta Sans" pitchFamily="34" charset="-122"/>
                <a:cs typeface="Plus Jakarta Sans" pitchFamily="34" charset="-120"/>
              </a:rPr>
              <a:t>Hooks</a:t>
            </a:r>
            <a:r>
              <a:rPr lang="en-US" sz="1400" dirty="0">
                <a:solidFill>
                  <a:srgbClr val="D9D4F5"/>
                </a:solidFill>
                <a:latin typeface="Plus Jakarta Sans" pitchFamily="34" charset="0"/>
                <a:ea typeface="Plus Jakarta Sans" pitchFamily="34" charset="-122"/>
                <a:cs typeface="Plus Jakarta Sans" pitchFamily="34" charset="-120"/>
              </a:rPr>
              <a:t> enforce it, even if the AI forgets.</a:t>
            </a:r>
            <a:endParaRPr lang="en-US" sz="14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AB8"/>
                </a:solidFill>
                <a:latin typeface="Plus Jakarta Sans" pitchFamily="34" charset="0"/>
                <a:ea typeface="Plus Jakarta Sans" pitchFamily="34" charset="-122"/>
                <a:cs typeface="Plus Jakarta Sans" pitchFamily="34" charset="-120"/>
              </a:rPr>
              <a:t>Source: repo root · .claude/ · Lesson 13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THE CLAUDE SETUP</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CLAUDE.md: the rules Claude reads every session</a:t>
            </a:r>
            <a:endParaRPr lang="en-US" sz="3200" dirty="0"/>
          </a:p>
        </p:txBody>
      </p:sp>
      <p:sp>
        <p:nvSpPr>
          <p:cNvPr id="4" name="Shape 2"/>
          <p:cNvSpPr/>
          <p:nvPr/>
        </p:nvSpPr>
        <p:spPr>
          <a:xfrm>
            <a:off x="815975" y="1781175"/>
            <a:ext cx="3397250" cy="1881187"/>
          </a:xfrm>
          <a:prstGeom prst="roundRect">
            <a:avLst>
              <a:gd name="adj" fmla="val 7932"/>
            </a:avLst>
          </a:prstGeom>
          <a:solidFill>
            <a:srgbClr val="FFFFFF"/>
          </a:solidFill>
          <a:ln w="6350">
            <a:solidFill>
              <a:srgbClr val="E6E3F2"/>
            </a:solidFill>
            <a:prstDash val="solid"/>
          </a:ln>
        </p:spPr>
      </p:sp>
      <p:sp>
        <p:nvSpPr>
          <p:cNvPr id="5" name="Text 3"/>
          <p:cNvSpPr/>
          <p:nvPr/>
        </p:nvSpPr>
        <p:spPr>
          <a:xfrm>
            <a:off x="1046480" y="1986285"/>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838"/>
                </a:solidFill>
                <a:latin typeface="Plus Jakarta Sans" pitchFamily="34" charset="0"/>
                <a:ea typeface="Plus Jakarta Sans" pitchFamily="34" charset="-122"/>
                <a:cs typeface="Plus Jakarta Sans" pitchFamily="34" charset="-120"/>
              </a:rPr>
              <a:t>Cross-package rules</a:t>
            </a:r>
            <a:endParaRPr lang="en-US" sz="1600" dirty="0"/>
          </a:p>
        </p:txBody>
      </p:sp>
      <p:sp>
        <p:nvSpPr>
          <p:cNvPr id="6" name="Text 4"/>
          <p:cNvSpPr/>
          <p:nvPr/>
        </p:nvSpPr>
        <p:spPr>
          <a:xfrm>
            <a:off x="1062355" y="2306327"/>
            <a:ext cx="3003118" cy="1176338"/>
          </a:xfrm>
          <a:prstGeom prst="rect">
            <a:avLst/>
          </a:prstGeom>
          <a:noFill/>
          <a:ln/>
        </p:spPr>
        <p:txBody>
          <a:bodyPr wrap="square" lIns="0" tIns="0" rIns="0" bIns="0" rtlCol="0" anchor="t">
            <a:normAutofit/>
          </a:bodyPr>
          <a:lstStyle/>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Plan first: a spec before multi-file work</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types.ts mirrors serializers</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erd.md mirrors the models</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New logic needs a test</a:t>
            </a:r>
            <a:endParaRPr lang="en-US" sz="1250" dirty="0"/>
          </a:p>
        </p:txBody>
      </p:sp>
      <p:sp>
        <p:nvSpPr>
          <p:cNvPr id="7" name="Shape 5"/>
          <p:cNvSpPr/>
          <p:nvPr/>
        </p:nvSpPr>
        <p:spPr>
          <a:xfrm>
            <a:off x="4397375" y="1781175"/>
            <a:ext cx="3397250" cy="1881187"/>
          </a:xfrm>
          <a:prstGeom prst="roundRect">
            <a:avLst>
              <a:gd name="adj" fmla="val 7932"/>
            </a:avLst>
          </a:prstGeom>
          <a:solidFill>
            <a:srgbClr val="FFFFFF"/>
          </a:solidFill>
          <a:ln w="6350">
            <a:solidFill>
              <a:srgbClr val="E6E3F2"/>
            </a:solidFill>
            <a:prstDash val="solid"/>
          </a:ln>
        </p:spPr>
      </p:sp>
      <p:sp>
        <p:nvSpPr>
          <p:cNvPr id="8" name="Text 6"/>
          <p:cNvSpPr/>
          <p:nvPr/>
        </p:nvSpPr>
        <p:spPr>
          <a:xfrm>
            <a:off x="4627880" y="1986285"/>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838"/>
                </a:solidFill>
                <a:latin typeface="Plus Jakarta Sans" pitchFamily="34" charset="0"/>
                <a:ea typeface="Plus Jakarta Sans" pitchFamily="34" charset="-122"/>
                <a:cs typeface="Plus Jakarta Sans" pitchFamily="34" charset="-120"/>
              </a:rPr>
              <a:t>Auth model</a:t>
            </a:r>
            <a:endParaRPr lang="en-US" sz="1600" dirty="0"/>
          </a:p>
        </p:txBody>
      </p:sp>
      <p:sp>
        <p:nvSpPr>
          <p:cNvPr id="9" name="Text 7"/>
          <p:cNvSpPr/>
          <p:nvPr/>
        </p:nvSpPr>
        <p:spPr>
          <a:xfrm>
            <a:off x="4643755" y="2306327"/>
            <a:ext cx="3003118" cy="946150"/>
          </a:xfrm>
          <a:prstGeom prst="rect">
            <a:avLst/>
          </a:prstGeom>
          <a:noFill/>
          <a:ln/>
        </p:spPr>
        <p:txBody>
          <a:bodyPr wrap="square" lIns="0" tIns="0" rIns="0" bIns="0" rtlCol="0" anchor="t">
            <a:normAutofit/>
          </a:bodyPr>
          <a:lstStyle/>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Access token in memory</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Refresh in httpOnly cookie, rotated</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CSRF on refresh and logout</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“Do not change without discussion”</a:t>
            </a:r>
            <a:endParaRPr lang="en-US" sz="1250" dirty="0"/>
          </a:p>
        </p:txBody>
      </p:sp>
      <p:sp>
        <p:nvSpPr>
          <p:cNvPr id="10" name="Shape 8"/>
          <p:cNvSpPr/>
          <p:nvPr/>
        </p:nvSpPr>
        <p:spPr>
          <a:xfrm>
            <a:off x="7978775" y="1781175"/>
            <a:ext cx="3397250" cy="1881187"/>
          </a:xfrm>
          <a:prstGeom prst="roundRect">
            <a:avLst>
              <a:gd name="adj" fmla="val 7932"/>
            </a:avLst>
          </a:prstGeom>
          <a:solidFill>
            <a:srgbClr val="FFF5F5"/>
          </a:solidFill>
          <a:ln w="6350">
            <a:solidFill>
              <a:srgbClr val="F5C9C9"/>
            </a:solidFill>
            <a:prstDash val="solid"/>
          </a:ln>
        </p:spPr>
      </p:sp>
      <p:sp>
        <p:nvSpPr>
          <p:cNvPr id="11" name="Text 9"/>
          <p:cNvSpPr/>
          <p:nvPr/>
        </p:nvSpPr>
        <p:spPr>
          <a:xfrm>
            <a:off x="8209280" y="1986285"/>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1C1C"/>
                </a:solidFill>
                <a:latin typeface="Plus Jakarta Sans" pitchFamily="34" charset="0"/>
                <a:ea typeface="Plus Jakarta Sans" pitchFamily="34" charset="-122"/>
                <a:cs typeface="Plus Jakarta Sans" pitchFamily="34" charset="-120"/>
              </a:rPr>
              <a:t>Never</a:t>
            </a:r>
            <a:endParaRPr lang="en-US" sz="1600" dirty="0"/>
          </a:p>
        </p:txBody>
      </p:sp>
      <p:sp>
        <p:nvSpPr>
          <p:cNvPr id="12" name="Text 10"/>
          <p:cNvSpPr/>
          <p:nvPr/>
        </p:nvSpPr>
        <p:spPr>
          <a:xfrm>
            <a:off x="8225155" y="2306327"/>
            <a:ext cx="3003118" cy="1176338"/>
          </a:xfrm>
          <a:prstGeom prst="rect">
            <a:avLst/>
          </a:prstGeom>
          <a:noFill/>
          <a:ln/>
        </p:spPr>
        <p:txBody>
          <a:bodyPr wrap="square" lIns="0" tIns="0" rIns="0" bIns="0" rtlCol="0" anchor="t">
            <a:normAutofit/>
          </a:bodyPr>
          <a:lstStyle/>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Commit .env or secrets</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Tokens in localStorage</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Disable CSRF or permissions</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Edit an applied migration</a:t>
            </a:r>
            <a:endParaRPr lang="en-US" sz="1250" dirty="0"/>
          </a:p>
          <a:p>
            <a:pPr algn="l" marL="161925" indent="-161925">
              <a:lnSpc>
                <a:spcPts val="1813"/>
              </a:lnSpc>
              <a:buSzPct val="100000"/>
              <a:buChar char="•"/>
            </a:pPr>
            <a:r>
              <a:rPr lang="en-US" sz="1250" dirty="0">
                <a:solidFill>
                  <a:srgbClr val="4A4763"/>
                </a:solidFill>
                <a:latin typeface="Plus Jakarta Sans" pitchFamily="34" charset="0"/>
                <a:ea typeface="Plus Jakarta Sans" pitchFamily="34" charset="-122"/>
                <a:cs typeface="Plus Jakarta Sans" pitchFamily="34" charset="-120"/>
              </a:rPr>
              <a:t>Reset the DB unasked</a:t>
            </a:r>
            <a:endParaRPr lang="en-US" sz="1250" dirty="0"/>
          </a:p>
        </p:txBody>
      </p:sp>
      <p:sp>
        <p:nvSpPr>
          <p:cNvPr id="13" name="Text 11"/>
          <p:cNvSpPr/>
          <p:nvPr/>
        </p:nvSpPr>
        <p:spPr>
          <a:xfrm>
            <a:off x="812800" y="3868738"/>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38"/>
                </a:solidFill>
                <a:latin typeface="Plus Jakarta Sans" pitchFamily="34" charset="0"/>
                <a:ea typeface="Plus Jakarta Sans" pitchFamily="34" charset="-122"/>
                <a:cs typeface="Plus Jakarta Sans" pitchFamily="34" charset="-120"/>
              </a:rPr>
              <a:t>Tip:</a:t>
            </a:r>
            <a:r>
              <a:rPr lang="en-US" sz="1400" dirty="0">
                <a:solidFill>
                  <a:srgbClr val="1B1838"/>
                </a:solidFill>
                <a:latin typeface="Plus Jakarta Sans" pitchFamily="34" charset="0"/>
                <a:ea typeface="Plus Jakarta Sans" pitchFamily="34" charset="-122"/>
                <a:cs typeface="Plus Jakarta Sans" pitchFamily="34" charset="-120"/>
              </a:rPr>
              <a:t> keep it short and specific. Each package has its own CLAUDE.md with its stack, commands and conventions.</a:t>
            </a:r>
            <a:endParaRPr lang="en-US" sz="14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CLAUDE.md · backend/CLAUDE.md · frontend/CLAUDE.md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BUILT-IN COMMANDS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Built-in slash commands you’ll use daily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994660"/>
        </p:xfrm>
        <a:graphic>
          <a:graphicData uri="http://schemas.openxmlformats.org/drawingml/2006/table">
            <a:tbl>
              <a:tblPr/>
              <a:tblGrid>
                <a:gridCol w="1899666"/>
                <a:gridCol w="5487924"/>
                <a:gridCol w="3166110"/>
              </a:tblGrid>
              <a:tr h="332740">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Command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What it does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Use it when</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/copy</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Copies the last answer to the clipboard (/copy 2 = the one before)</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You need a generated prompt or text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/clear</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New conversation, empty context; project memory stays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Starting an unrelated task</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/compact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Summarises the conversation to free context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A long task is half-full</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/rewind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Goes back to an earlier checkpoint (chat and/or code)</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The AI went the wrong way</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/model</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Switches the model</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Cheap model for mechanical work</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/context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Shows what is filling the context window</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Answers get vague or slow</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/memory</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Edits CLAUDE.md and memory files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You correct Claude twice</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/init · /help</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Starter CLAUDE.md · list every command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New repo · you forget a name</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code.claude.com/docs/en/commands (checked 2026-10-24)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OUR PROJECT COMMANDS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/dev → /check → /review → /commit</a:t>
            </a:r>
            <a:endParaRPr lang="en-US" sz="3200" dirty="0"/>
          </a:p>
        </p:txBody>
      </p:sp>
      <p:sp>
        <p:nvSpPr>
          <p:cNvPr id="4" name="Shape 2"/>
          <p:cNvSpPr/>
          <p:nvPr/>
        </p:nvSpPr>
        <p:spPr>
          <a:xfrm>
            <a:off x="815975" y="1781175"/>
            <a:ext cx="2540000" cy="1598930"/>
          </a:xfrm>
          <a:prstGeom prst="roundRect">
            <a:avLst>
              <a:gd name="adj" fmla="val 9333"/>
            </a:avLst>
          </a:prstGeom>
          <a:solidFill>
            <a:srgbClr val="FFFFFF"/>
          </a:solidFill>
          <a:ln w="6350">
            <a:solidFill>
              <a:srgbClr val="E6E3F2"/>
            </a:solidFill>
            <a:prstDash val="solid"/>
          </a:ln>
        </p:spPr>
      </p:sp>
      <p:sp>
        <p:nvSpPr>
          <p:cNvPr id="5" name="Text 3"/>
          <p:cNvSpPr/>
          <p:nvPr/>
        </p:nvSpPr>
        <p:spPr>
          <a:xfrm>
            <a:off x="1008380" y="1960885"/>
            <a:ext cx="221984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/dev</a:t>
            </a:r>
            <a:endParaRPr lang="en-US" sz="1700" dirty="0"/>
          </a:p>
        </p:txBody>
      </p:sp>
      <p:sp>
        <p:nvSpPr>
          <p:cNvPr id="6" name="Text 4"/>
          <p:cNvSpPr/>
          <p:nvPr/>
        </p:nvSpPr>
        <p:spPr>
          <a:xfrm>
            <a:off x="1008380" y="2283458"/>
            <a:ext cx="221984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haiku</a:t>
            </a:r>
            <a:endParaRPr lang="en-US" sz="1200" dirty="0"/>
          </a:p>
        </p:txBody>
      </p:sp>
      <p:sp>
        <p:nvSpPr>
          <p:cNvPr id="7" name="Text 5"/>
          <p:cNvSpPr/>
          <p:nvPr/>
        </p:nvSpPr>
        <p:spPr>
          <a:xfrm>
            <a:off x="1008380" y="2560327"/>
            <a:ext cx="221984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Creates .env if missing, starts DB, API and Vite, waits for both URLs</a:t>
            </a:r>
            <a:endParaRPr lang="en-US" sz="1200" dirty="0"/>
          </a:p>
        </p:txBody>
      </p:sp>
      <p:sp>
        <p:nvSpPr>
          <p:cNvPr id="8" name="Shape 6"/>
          <p:cNvSpPr/>
          <p:nvPr/>
        </p:nvSpPr>
        <p:spPr>
          <a:xfrm>
            <a:off x="3489325" y="1781175"/>
            <a:ext cx="2540000" cy="1598930"/>
          </a:xfrm>
          <a:prstGeom prst="roundRect">
            <a:avLst>
              <a:gd name="adj" fmla="val 9333"/>
            </a:avLst>
          </a:prstGeom>
          <a:solidFill>
            <a:srgbClr val="FFFFFF"/>
          </a:solidFill>
          <a:ln w="6350">
            <a:solidFill>
              <a:srgbClr val="E6E3F2"/>
            </a:solidFill>
            <a:prstDash val="solid"/>
          </a:ln>
        </p:spPr>
      </p:sp>
      <p:sp>
        <p:nvSpPr>
          <p:cNvPr id="9" name="Text 7"/>
          <p:cNvSpPr/>
          <p:nvPr/>
        </p:nvSpPr>
        <p:spPr>
          <a:xfrm>
            <a:off x="3681730" y="1960885"/>
            <a:ext cx="221984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/check</a:t>
            </a:r>
            <a:endParaRPr lang="en-US" sz="1700" dirty="0"/>
          </a:p>
        </p:txBody>
      </p:sp>
      <p:sp>
        <p:nvSpPr>
          <p:cNvPr id="10" name="Text 8"/>
          <p:cNvSpPr/>
          <p:nvPr/>
        </p:nvSpPr>
        <p:spPr>
          <a:xfrm>
            <a:off x="3681730" y="2283458"/>
            <a:ext cx="221984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haiku</a:t>
            </a:r>
            <a:endParaRPr lang="en-US" sz="1200" dirty="0"/>
          </a:p>
        </p:txBody>
      </p:sp>
      <p:sp>
        <p:nvSpPr>
          <p:cNvPr id="11" name="Text 9"/>
          <p:cNvSpPr/>
          <p:nvPr/>
        </p:nvSpPr>
        <p:spPr>
          <a:xfrm>
            <a:off x="3681730" y="2560327"/>
            <a:ext cx="221984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Runs scripts/check.sh, reports PASS / FAIL / NOT RUN. Edits nothing</a:t>
            </a:r>
            <a:endParaRPr lang="en-US" sz="1200" dirty="0"/>
          </a:p>
        </p:txBody>
      </p:sp>
      <p:sp>
        <p:nvSpPr>
          <p:cNvPr id="12" name="Shape 10"/>
          <p:cNvSpPr/>
          <p:nvPr/>
        </p:nvSpPr>
        <p:spPr>
          <a:xfrm>
            <a:off x="6162675" y="1781175"/>
            <a:ext cx="2540000" cy="1598930"/>
          </a:xfrm>
          <a:prstGeom prst="roundRect">
            <a:avLst>
              <a:gd name="adj" fmla="val 9333"/>
            </a:avLst>
          </a:prstGeom>
          <a:solidFill>
            <a:srgbClr val="FFFFFF"/>
          </a:solidFill>
          <a:ln w="6350">
            <a:solidFill>
              <a:srgbClr val="E6E3F2"/>
            </a:solidFill>
            <a:prstDash val="solid"/>
          </a:ln>
        </p:spPr>
      </p:sp>
      <p:sp>
        <p:nvSpPr>
          <p:cNvPr id="13" name="Text 11"/>
          <p:cNvSpPr/>
          <p:nvPr/>
        </p:nvSpPr>
        <p:spPr>
          <a:xfrm>
            <a:off x="6355080" y="1960885"/>
            <a:ext cx="221984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/review</a:t>
            </a:r>
            <a:endParaRPr lang="en-US" sz="1700" dirty="0"/>
          </a:p>
        </p:txBody>
      </p:sp>
      <p:sp>
        <p:nvSpPr>
          <p:cNvPr id="14" name="Text 12"/>
          <p:cNvSpPr/>
          <p:nvPr/>
        </p:nvSpPr>
        <p:spPr>
          <a:xfrm>
            <a:off x="6355080" y="2283458"/>
            <a:ext cx="221984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default model</a:t>
            </a:r>
            <a:endParaRPr lang="en-US" sz="1200" dirty="0"/>
          </a:p>
        </p:txBody>
      </p:sp>
      <p:sp>
        <p:nvSpPr>
          <p:cNvPr id="15" name="Text 13"/>
          <p:cNvSpPr/>
          <p:nvPr/>
        </p:nvSpPr>
        <p:spPr>
          <a:xfrm>
            <a:off x="6355080" y="2560327"/>
            <a:ext cx="221984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Diff vs the 3 CLAUDE.md files, violations with file:line. Edits nothing</a:t>
            </a:r>
            <a:endParaRPr lang="en-US" sz="1200" dirty="0"/>
          </a:p>
        </p:txBody>
      </p:sp>
      <p:sp>
        <p:nvSpPr>
          <p:cNvPr id="16" name="Shape 14"/>
          <p:cNvSpPr/>
          <p:nvPr/>
        </p:nvSpPr>
        <p:spPr>
          <a:xfrm>
            <a:off x="8836025" y="1781175"/>
            <a:ext cx="2540000" cy="1598930"/>
          </a:xfrm>
          <a:prstGeom prst="roundRect">
            <a:avLst>
              <a:gd name="adj" fmla="val 9333"/>
            </a:avLst>
          </a:prstGeom>
          <a:solidFill>
            <a:srgbClr val="FFFFFF"/>
          </a:solidFill>
          <a:ln w="6350">
            <a:solidFill>
              <a:srgbClr val="E6E3F2"/>
            </a:solidFill>
            <a:prstDash val="solid"/>
          </a:ln>
        </p:spPr>
      </p:sp>
      <p:sp>
        <p:nvSpPr>
          <p:cNvPr id="17" name="Text 15"/>
          <p:cNvSpPr/>
          <p:nvPr/>
        </p:nvSpPr>
        <p:spPr>
          <a:xfrm>
            <a:off x="9028430" y="1960885"/>
            <a:ext cx="221984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838"/>
                </a:solidFill>
                <a:latin typeface="Plus Jakarta Sans" pitchFamily="34" charset="0"/>
                <a:ea typeface="Plus Jakarta Sans" pitchFamily="34" charset="-122"/>
                <a:cs typeface="Plus Jakarta Sans" pitchFamily="34" charset="-120"/>
              </a:rPr>
              <a:t>/commit</a:t>
            </a:r>
            <a:endParaRPr lang="en-US" sz="1700" dirty="0"/>
          </a:p>
        </p:txBody>
      </p:sp>
      <p:sp>
        <p:nvSpPr>
          <p:cNvPr id="18" name="Text 16"/>
          <p:cNvSpPr/>
          <p:nvPr/>
        </p:nvSpPr>
        <p:spPr>
          <a:xfrm>
            <a:off x="9028430" y="2283458"/>
            <a:ext cx="221984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sonnet</a:t>
            </a:r>
            <a:endParaRPr lang="en-US" sz="1200" dirty="0"/>
          </a:p>
        </p:txBody>
      </p:sp>
      <p:sp>
        <p:nvSpPr>
          <p:cNvPr id="19" name="Text 17"/>
          <p:cNvSpPr/>
          <p:nvPr/>
        </p:nvSpPr>
        <p:spPr>
          <a:xfrm>
            <a:off x="9028430" y="2560327"/>
            <a:ext cx="221984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Message for the </a:t>
            </a:r>
            <a:r>
              <a:rPr lang="en-US" sz="1200" b="1" dirty="0">
                <a:solidFill>
                  <a:srgbClr val="4A4763"/>
                </a:solidFill>
                <a:latin typeface="Plus Jakarta Sans" pitchFamily="34" charset="0"/>
                <a:ea typeface="Plus Jakarta Sans" pitchFamily="34" charset="-122"/>
                <a:cs typeface="Plus Jakarta Sans" pitchFamily="34" charset="-120"/>
              </a:rPr>
              <a:t>staged</a:t>
            </a:r>
            <a:r>
              <a:rPr lang="en-US" sz="1200" dirty="0">
                <a:solidFill>
                  <a:srgbClr val="4A4763"/>
                </a:solidFill>
                <a:latin typeface="Plus Jakarta Sans" pitchFamily="34" charset="0"/>
                <a:ea typeface="Plus Jakarta Sans" pitchFamily="34" charset="-122"/>
                <a:cs typeface="Plus Jakarta Sans" pitchFamily="34" charset="-120"/>
              </a:rPr>
              <a:t> diff, checks for secrets. Never commits unasked</a:t>
            </a:r>
            <a:endParaRPr lang="en-US" sz="1200" dirty="0"/>
          </a:p>
        </p:txBody>
      </p:sp>
      <p:sp>
        <p:nvSpPr>
          <p:cNvPr id="20" name="Shape 18"/>
          <p:cNvSpPr/>
          <p:nvPr/>
        </p:nvSpPr>
        <p:spPr>
          <a:xfrm>
            <a:off x="812800" y="3586485"/>
            <a:ext cx="7086600" cy="1257300"/>
          </a:xfrm>
          <a:prstGeom prst="roundRect">
            <a:avLst>
              <a:gd name="adj" fmla="val 10101"/>
            </a:avLst>
          </a:prstGeom>
          <a:solidFill>
            <a:srgbClr val="1D1A39"/>
          </a:solidFill>
          <a:ln/>
        </p:spPr>
      </p:sp>
      <p:sp>
        <p:nvSpPr>
          <p:cNvPr id="21" name="Text 19"/>
          <p:cNvSpPr/>
          <p:nvPr/>
        </p:nvSpPr>
        <p:spPr>
          <a:xfrm>
            <a:off x="1016000" y="3738885"/>
            <a:ext cx="688060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.claude/commands/check.md</a:t>
            </a:r>
            <a:endParaRPr lang="en-US" sz="1200" dirty="0"/>
          </a:p>
        </p:txBody>
      </p:sp>
      <p:sp>
        <p:nvSpPr>
          <p:cNvPr id="22" name="Text 20"/>
          <p:cNvSpPr/>
          <p:nvPr/>
        </p:nvSpPr>
        <p:spPr>
          <a:xfrm>
            <a:off x="1016000" y="3980185"/>
            <a:ext cx="688060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model: haiku</a:t>
            </a:r>
            <a:endParaRPr lang="en-US" sz="1200" dirty="0"/>
          </a:p>
        </p:txBody>
      </p:sp>
      <p:sp>
        <p:nvSpPr>
          <p:cNvPr id="23" name="Text 21"/>
          <p:cNvSpPr/>
          <p:nvPr/>
        </p:nvSpPr>
        <p:spPr>
          <a:xfrm>
            <a:off x="1016000" y="4221485"/>
            <a:ext cx="688060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description: Run every backend and frontend check …</a:t>
            </a:r>
            <a:endParaRPr lang="en-US" sz="1200" dirty="0"/>
          </a:p>
        </p:txBody>
      </p:sp>
      <p:sp>
        <p:nvSpPr>
          <p:cNvPr id="24" name="Text 22"/>
          <p:cNvSpPr/>
          <p:nvPr/>
        </p:nvSpPr>
        <p:spPr>
          <a:xfrm>
            <a:off x="1016000" y="4462785"/>
            <a:ext cx="688060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Run all project checks … Do not modify any files.</a:t>
            </a:r>
            <a:endParaRPr lang="en-US" sz="1200" dirty="0"/>
          </a:p>
        </p:txBody>
      </p:sp>
      <p:sp>
        <p:nvSpPr>
          <p:cNvPr id="25" name="Text 23"/>
          <p:cNvSpPr/>
          <p:nvPr/>
        </p:nvSpPr>
        <p:spPr>
          <a:xfrm>
            <a:off x="8080375" y="3589660"/>
            <a:ext cx="3295650" cy="948690"/>
          </a:xfrm>
          <a:prstGeom prst="roundRect">
            <a:avLst>
              <a:gd name="adj" fmla="val 13052"/>
            </a:avLst>
          </a:prstGeom>
          <a:solidFill>
            <a:srgbClr val="FFF8E6"/>
          </a:solidFill>
          <a:ln w="6350">
            <a:solidFill>
              <a:srgbClr val="F2D49B"/>
            </a:solidFill>
            <a:prstDash val="solid"/>
          </a:ln>
        </p:spPr>
        <p:txBody>
          <a:bodyPr wrap="square" lIns="143438" tIns="118038" rIns="55350" bIns="92638" rtlCol="0" anchor="t">
            <a:normAutofit/>
          </a:bodyPr>
          <a:lstStyle/>
          <a:p>
            <a:pPr algn="l" indent="0" marL="0">
              <a:lnSpc>
                <a:spcPts val="1680"/>
              </a:lnSpc>
              <a:buNone/>
            </a:pPr>
            <a:r>
              <a:rPr lang="en-US" sz="1200" b="1" dirty="0">
                <a:solidFill>
                  <a:srgbClr val="5C3D00"/>
                </a:solidFill>
                <a:latin typeface="Plus Jakarta Sans" pitchFamily="34" charset="0"/>
                <a:ea typeface="Plus Jakarta Sans" pitchFamily="34" charset="-122"/>
                <a:cs typeface="Plus Jakarta Sans" pitchFamily="34" charset="-120"/>
              </a:rPr>
              <a:t>⚠ Name clash:</a:t>
            </a:r>
            <a:r>
              <a:rPr lang="en-US" sz="1200" dirty="0">
                <a:solidFill>
                  <a:srgbClr val="5C3D00"/>
                </a:solidFill>
                <a:latin typeface="Plus Jakarta Sans" pitchFamily="34" charset="0"/>
                <a:ea typeface="Plus Jakarta Sans" pitchFamily="34" charset="-122"/>
                <a:cs typeface="Plus Jakarta Sans" pitchFamily="34" charset="-120"/>
              </a:rPr>
              <a:t> Claude Code also has a built-in </a:t>
            </a:r>
            <a:r>
              <a:rPr lang="en-US" sz="1200" b="1" dirty="0">
                <a:solidFill>
                  <a:srgbClr val="5C3D00"/>
                </a:solidFill>
                <a:latin typeface="Plus Jakarta Sans" pitchFamily="34" charset="0"/>
                <a:ea typeface="Plus Jakarta Sans" pitchFamily="34" charset="-122"/>
                <a:cs typeface="Plus Jakarta Sans" pitchFamily="34" charset="-120"/>
              </a:rPr>
              <a:t>/review</a:t>
            </a:r>
            <a:r>
              <a:rPr lang="en-US" sz="1200" dirty="0">
                <a:solidFill>
                  <a:srgbClr val="5C3D00"/>
                </a:solidFill>
                <a:latin typeface="Plus Jakarta Sans" pitchFamily="34" charset="0"/>
                <a:ea typeface="Plus Jakarta Sans" pitchFamily="34" charset="-122"/>
                <a:cs typeface="Plus Jakarta Sans" pitchFamily="34" charset="-120"/>
              </a:rPr>
              <a:t> (alias of /code-review). Check which one runs with </a:t>
            </a:r>
            <a:r>
              <a:rPr lang="en-US" sz="1200" b="1" dirty="0">
                <a:solidFill>
                  <a:srgbClr val="5C3D00"/>
                </a:solidFill>
                <a:latin typeface="Plus Jakarta Sans" pitchFamily="34" charset="0"/>
                <a:ea typeface="Plus Jakarta Sans" pitchFamily="34" charset="-122"/>
                <a:cs typeface="Plus Jakarta Sans" pitchFamily="34" charset="-120"/>
              </a:rPr>
              <a:t>/help</a:t>
            </a:r>
            <a:r>
              <a:rPr lang="en-US" sz="1200" dirty="0">
                <a:solidFill>
                  <a:srgbClr val="5C3D00"/>
                </a:solidFill>
                <a:latin typeface="Plus Jakarta Sans" pitchFamily="34" charset="0"/>
                <a:ea typeface="Plus Jakarta Sans" pitchFamily="34" charset="-122"/>
                <a:cs typeface="Plus Jakarta Sans" pitchFamily="34" charset="-120"/>
              </a:rPr>
              <a:t>.</a:t>
            </a:r>
            <a:endParaRPr lang="en-US" sz="1200" dirty="0"/>
          </a:p>
        </p:txBody>
      </p:sp>
      <p:sp>
        <p:nvSpPr>
          <p:cNvPr id="26" name="Text 2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.claude/commands/dev.md, check.md, review.md, commit.md · Lesson 13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SKILLS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Skills: step-by-step recipes Claude loads itself</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156460"/>
        </p:xfrm>
        <a:graphic>
          <a:graphicData uri="http://schemas.openxmlformats.org/drawingml/2006/table">
            <a:tbl>
              <a:tblPr/>
              <a:tblGrid>
                <a:gridCol w="2955036"/>
                <a:gridCol w="4221480"/>
                <a:gridCol w="3377184"/>
              </a:tblGrid>
              <a:tr h="359410">
                <a:tc>
                  <a:txBody>
                    <a:bodyPr/>
                    <a:lstStyle/>
                    <a:p>
                      <a:pPr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Skill</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Starts when you say…</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It makes sure</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add-api-endpoint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“add an endpoint to archive tasks”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view, test, types, docs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add-task-field</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“tasks need an estimate”</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migration → UI, en + km</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add-i18n-key</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“add an Archive button label”</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both en.ts and km.ts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backend-tests · frontend-tests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“add tests for this”</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tests what users see and do</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9410">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ui-ux-pro-max</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any UI or design work</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1B1838"/>
                          </a:solidFill>
                          <a:latin typeface="Plus Jakarta Sans" pitchFamily="34" charset="0"/>
                          <a:ea typeface="Plus Jakarta Sans" pitchFamily="34" charset="-122"/>
                          <a:cs typeface="Plus Jakarta Sans" pitchFamily="34" charset="-120"/>
                        </a:rPr>
                        <a:t>design rules checklist</a:t>
                      </a:r>
                      <a:endParaRPr lang="en-US" sz="1300" dirty="0">
                        <a:latin typeface="Plus Jakarta Sans" charset="0"/>
                        <a:ea typeface="Plus Jakarta Sans" charset="0"/>
                        <a:cs typeface="Plus Jakarta Sans"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4150358"/>
            <a:ext cx="10566400" cy="533400"/>
          </a:xfrm>
          <a:prstGeom prst="roundRect">
            <a:avLst>
              <a:gd name="adj" fmla="val 23810"/>
            </a:avLst>
          </a:prstGeom>
          <a:solidFill>
            <a:srgbClr val="1D1A39"/>
          </a:solidFill>
          <a:ln/>
        </p:spPr>
        <p:txBody>
          <a:bodyPr wrap="none" lIns="166003" tIns="115203" rIns="0" bIns="89803"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.claude/skills/&lt;name&gt;/SKILL.md </a:t>
            </a:r>
            <a:r>
              <a:rPr lang="en-US" sz="1200" dirty="0">
                <a:solidFill>
                  <a:srgbClr val="8F8AB8"/>
                </a:solidFill>
                <a:latin typeface="JetBrains Mono" pitchFamily="49" charset="0"/>
                <a:ea typeface="JetBrains Mono" pitchFamily="49" charset="-122"/>
                <a:cs typeface="JetBrains Mono" pitchFamily="49" charset="-120"/>
              </a:rPr>
              <a:t># description decides when it auto-loads</a:t>
            </a:r>
            <a:endParaRPr lang="en-US" sz="1200" dirty="0"/>
          </a:p>
        </p:txBody>
      </p:sp>
      <p:sp>
        <p:nvSpPr>
          <p:cNvPr id="6" name="Text 3"/>
          <p:cNvSpPr/>
          <p:nvPr/>
        </p:nvSpPr>
        <p:spPr>
          <a:xfrm>
            <a:off x="812800" y="4886958"/>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3"/>
                </a:solidFill>
                <a:latin typeface="Plus Jakarta Sans" pitchFamily="34" charset="0"/>
                <a:ea typeface="Plus Jakarta Sans" pitchFamily="34" charset="-122"/>
                <a:cs typeface="Plus Jakarta Sans" pitchFamily="34" charset="-120"/>
              </a:rPr>
              <a:t>Auto-loaded from the description, or typed as </a:t>
            </a:r>
            <a:r>
              <a:rPr lang="en-US" sz="1300" b="1" dirty="0">
                <a:solidFill>
                  <a:srgbClr val="4A4763"/>
                </a:solidFill>
                <a:latin typeface="Plus Jakarta Sans" pitchFamily="34" charset="0"/>
                <a:ea typeface="Plus Jakarta Sans" pitchFamily="34" charset="-122"/>
                <a:cs typeface="Plus Jakarta Sans" pitchFamily="34" charset="-120"/>
              </a:rPr>
              <a:t>/name</a:t>
            </a:r>
            <a:r>
              <a:rPr lang="en-US" sz="1300" dirty="0">
                <a:solidFill>
                  <a:srgbClr val="4A4763"/>
                </a:solidFill>
                <a:latin typeface="Plus Jakarta Sans" pitchFamily="34" charset="0"/>
                <a:ea typeface="Plus Jakarta Sans" pitchFamily="34" charset="-122"/>
                <a:cs typeface="Plus Jakarta Sans" pitchFamily="34" charset="-120"/>
              </a:rPr>
              <a:t>. A command and a skill with the same name both create the same </a:t>
            </a:r>
            <a:r>
              <a:rPr lang="en-US" sz="1300" b="1" dirty="0">
                <a:solidFill>
                  <a:srgbClr val="4A4763"/>
                </a:solidFill>
                <a:latin typeface="Plus Jakarta Sans" pitchFamily="34" charset="0"/>
                <a:ea typeface="Plus Jakarta Sans" pitchFamily="34" charset="-122"/>
                <a:cs typeface="Plus Jakarta Sans" pitchFamily="34" charset="-120"/>
              </a:rPr>
              <a:t>/name</a:t>
            </a:r>
            <a:r>
              <a:rPr lang="en-US" sz="1300" dirty="0">
                <a:solidFill>
                  <a:srgbClr val="4A4763"/>
                </a:solidFill>
                <a:latin typeface="Plus Jakarta Sans" pitchFamily="34" charset="0"/>
                <a:ea typeface="Plus Jakarta Sans" pitchFamily="34" charset="-122"/>
                <a:cs typeface="Plus Jakarta Sans" pitchFamily="34" charset="-120"/>
              </a:rPr>
              <a:t>.</a:t>
            </a:r>
            <a:endParaRPr lang="en-US" sz="1300" dirty="0"/>
          </a:p>
        </p:txBody>
      </p:sp>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.claude/skills/*/SKILL.md · code.claude.com/docs/en/skills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AGENTS AND HOOKS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Agents check the work. Hooks guard it.</a:t>
            </a:r>
            <a:endParaRPr lang="en-US" sz="3200" dirty="0"/>
          </a:p>
        </p:txBody>
      </p:sp>
      <p:sp>
        <p:nvSpPr>
          <p:cNvPr id="4" name="Text 2"/>
          <p:cNvSpPr/>
          <p:nvPr/>
        </p:nvSpPr>
        <p:spPr>
          <a:xfrm>
            <a:off x="812800" y="1778000"/>
            <a:ext cx="533704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838"/>
                </a:solidFill>
                <a:latin typeface="Plus Jakarta Sans" pitchFamily="34" charset="0"/>
                <a:ea typeface="Plus Jakarta Sans" pitchFamily="34" charset="-122"/>
                <a:cs typeface="Plus Jakarta Sans" pitchFamily="34" charset="-120"/>
              </a:rPr>
              <a:t>Agents · .claude/agents/</a:t>
            </a:r>
            <a:endParaRPr lang="en-US" sz="1800" dirty="0"/>
          </a:p>
        </p:txBody>
      </p:sp>
      <p:sp>
        <p:nvSpPr>
          <p:cNvPr id="5" name="Text 3"/>
          <p:cNvSpPr/>
          <p:nvPr/>
        </p:nvSpPr>
        <p:spPr>
          <a:xfrm>
            <a:off x="815975" y="2157102"/>
            <a:ext cx="5175250" cy="770890"/>
          </a:xfrm>
          <a:prstGeom prst="roundRect">
            <a:avLst>
              <a:gd name="adj" fmla="val 16063"/>
            </a:avLst>
          </a:prstGeom>
          <a:solidFill>
            <a:srgbClr val="FFFFFF"/>
          </a:solidFill>
          <a:ln w="6350">
            <a:solidFill>
              <a:srgbClr val="E6E3F2"/>
            </a:solidFill>
            <a:prstDash val="solid"/>
          </a:ln>
        </p:spPr>
        <p:txBody>
          <a:bodyPr wrap="square" lIns="143438" tIns="118038" rIns="0" bIns="92638"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backend-reviewer</a:t>
            </a:r>
            <a:r>
              <a:rPr lang="en-US" sz="1300" dirty="0">
                <a:solidFill>
                  <a:srgbClr val="1B1838"/>
                </a:solidFill>
                <a:latin typeface="Plus Jakarta Sans" pitchFamily="34" charset="0"/>
                <a:ea typeface="Plus Jakarta Sans" pitchFamily="34" charset="-122"/>
                <a:cs typeface="Plus Jakarta Sans" pitchFamily="34" charset="-120"/>
              </a:rPr>
              <a:t>: read-only; security, ownership, migrations, tests</a:t>
            </a:r>
            <a:endParaRPr lang="en-US" sz="1300" dirty="0"/>
          </a:p>
        </p:txBody>
      </p:sp>
      <p:sp>
        <p:nvSpPr>
          <p:cNvPr id="6" name="Text 4"/>
          <p:cNvSpPr/>
          <p:nvPr/>
        </p:nvSpPr>
        <p:spPr>
          <a:xfrm>
            <a:off x="815975" y="3035933"/>
            <a:ext cx="5175250" cy="770890"/>
          </a:xfrm>
          <a:prstGeom prst="roundRect">
            <a:avLst>
              <a:gd name="adj" fmla="val 16063"/>
            </a:avLst>
          </a:prstGeom>
          <a:solidFill>
            <a:srgbClr val="FFFFFF"/>
          </a:solidFill>
          <a:ln w="6350">
            <a:solidFill>
              <a:srgbClr val="E6E3F2"/>
            </a:solidFill>
            <a:prstDash val="solid"/>
          </a:ln>
        </p:spPr>
        <p:txBody>
          <a:bodyPr wrap="square" lIns="143438" tIns="118038" rIns="0" bIns="92638"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frontend-reviewer</a:t>
            </a:r>
            <a:r>
              <a:rPr lang="en-US" sz="1300" dirty="0">
                <a:solidFill>
                  <a:srgbClr val="1B1838"/>
                </a:solidFill>
                <a:latin typeface="Plus Jakarta Sans" pitchFamily="34" charset="0"/>
                <a:ea typeface="Plus Jakarta Sans" pitchFamily="34" charset="-122"/>
                <a:cs typeface="Plus Jakarta Sans" pitchFamily="34" charset="-120"/>
              </a:rPr>
              <a:t>: read-only; tokens, i18n parity, API client, styling</a:t>
            </a:r>
            <a:endParaRPr lang="en-US" sz="1300" dirty="0"/>
          </a:p>
        </p:txBody>
      </p:sp>
      <p:sp>
        <p:nvSpPr>
          <p:cNvPr id="7" name="Text 5"/>
          <p:cNvSpPr/>
          <p:nvPr/>
        </p:nvSpPr>
        <p:spPr>
          <a:xfrm>
            <a:off x="815975" y="3914775"/>
            <a:ext cx="5175250" cy="770890"/>
          </a:xfrm>
          <a:prstGeom prst="roundRect">
            <a:avLst>
              <a:gd name="adj" fmla="val 16063"/>
            </a:avLst>
          </a:prstGeom>
          <a:solidFill>
            <a:srgbClr val="FFFFFF"/>
          </a:solidFill>
          <a:ln w="6350">
            <a:solidFill>
              <a:srgbClr val="E6E3F2"/>
            </a:solidFill>
            <a:prstDash val="solid"/>
          </a:ln>
        </p:spPr>
        <p:txBody>
          <a:bodyPr wrap="square" lIns="143438" tIns="118038" rIns="0" bIns="92638"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test-writer</a:t>
            </a:r>
            <a:r>
              <a:rPr lang="en-US" sz="1300" dirty="0">
                <a:solidFill>
                  <a:srgbClr val="1B1838"/>
                </a:solidFill>
                <a:latin typeface="Plus Jakarta Sans" pitchFamily="34" charset="0"/>
                <a:ea typeface="Plus Jakarta Sans" pitchFamily="34" charset="-122"/>
                <a:cs typeface="Plus Jakarta Sans" pitchFamily="34" charset="-120"/>
              </a:rPr>
              <a:t>: adds pytest, Vitest or Playwright tests, never changes the code under test</a:t>
            </a:r>
            <a:endParaRPr lang="en-US" sz="1300" dirty="0"/>
          </a:p>
        </p:txBody>
      </p:sp>
      <p:sp>
        <p:nvSpPr>
          <p:cNvPr id="8" name="Text 6"/>
          <p:cNvSpPr/>
          <p:nvPr/>
        </p:nvSpPr>
        <p:spPr>
          <a:xfrm>
            <a:off x="6197600" y="1778000"/>
            <a:ext cx="533704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838"/>
                </a:solidFill>
                <a:latin typeface="Plus Jakarta Sans" pitchFamily="34" charset="0"/>
                <a:ea typeface="Plus Jakarta Sans" pitchFamily="34" charset="-122"/>
                <a:cs typeface="Plus Jakarta Sans" pitchFamily="34" charset="-120"/>
              </a:rPr>
              <a:t>Hooks · settings.json</a:t>
            </a:r>
            <a:endParaRPr lang="en-US" sz="1800" dirty="0"/>
          </a:p>
        </p:txBody>
      </p:sp>
      <p:sp>
        <p:nvSpPr>
          <p:cNvPr id="9" name="Text 7"/>
          <p:cNvSpPr/>
          <p:nvPr/>
        </p:nvSpPr>
        <p:spPr>
          <a:xfrm>
            <a:off x="6200775" y="2157102"/>
            <a:ext cx="5175250" cy="770890"/>
          </a:xfrm>
          <a:prstGeom prst="roundRect">
            <a:avLst>
              <a:gd name="adj" fmla="val 16063"/>
            </a:avLst>
          </a:prstGeom>
          <a:solidFill>
            <a:srgbClr val="FFFFFF"/>
          </a:solidFill>
          <a:ln w="6350">
            <a:solidFill>
              <a:srgbClr val="E6E3F2"/>
            </a:solidFill>
            <a:prstDash val="solid"/>
          </a:ln>
        </p:spPr>
        <p:txBody>
          <a:bodyPr wrap="square" lIns="143438" tIns="118038" rIns="0" bIns="92638"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Before</a:t>
            </a:r>
            <a:r>
              <a:rPr lang="en-US" sz="1300" dirty="0">
                <a:solidFill>
                  <a:srgbClr val="1B1838"/>
                </a:solidFill>
                <a:latin typeface="Plus Jakarta Sans" pitchFamily="34" charset="0"/>
                <a:ea typeface="Plus Jakarta Sans" pitchFamily="34" charset="-122"/>
                <a:cs typeface="Plus Jakarta Sans" pitchFamily="34" charset="-120"/>
              </a:rPr>
              <a:t> Edit/Write: </a:t>
            </a:r>
            <a:r>
              <a:rPr lang="en-US" sz="1300" b="1" dirty="0">
                <a:solidFill>
                  <a:srgbClr val="1B1838"/>
                </a:solidFill>
                <a:latin typeface="Plus Jakarta Sans" pitchFamily="34" charset="0"/>
                <a:ea typeface="Plus Jakarta Sans" pitchFamily="34" charset="-122"/>
                <a:cs typeface="Plus Jakarta Sans" pitchFamily="34" charset="-120"/>
              </a:rPr>
              <a:t>block-secrets.sh</a:t>
            </a:r>
            <a:r>
              <a:rPr lang="en-US" sz="1300" dirty="0">
                <a:solidFill>
                  <a:srgbClr val="1B1838"/>
                </a:solidFill>
                <a:latin typeface="Plus Jakarta Sans" pitchFamily="34" charset="0"/>
                <a:ea typeface="Plus Jakarta Sans" pitchFamily="34" charset="-122"/>
                <a:cs typeface="Plus Jakarta Sans" pitchFamily="34" charset="-120"/>
              </a:rPr>
              <a:t> refuses writes to .env files</a:t>
            </a:r>
            <a:endParaRPr lang="en-US" sz="1300" dirty="0"/>
          </a:p>
        </p:txBody>
      </p:sp>
      <p:sp>
        <p:nvSpPr>
          <p:cNvPr id="10" name="Text 8"/>
          <p:cNvSpPr/>
          <p:nvPr/>
        </p:nvSpPr>
        <p:spPr>
          <a:xfrm>
            <a:off x="6200775" y="3035933"/>
            <a:ext cx="5175250" cy="770890"/>
          </a:xfrm>
          <a:prstGeom prst="roundRect">
            <a:avLst>
              <a:gd name="adj" fmla="val 16063"/>
            </a:avLst>
          </a:prstGeom>
          <a:solidFill>
            <a:srgbClr val="FFFFFF"/>
          </a:solidFill>
          <a:ln w="6350">
            <a:solidFill>
              <a:srgbClr val="E6E3F2"/>
            </a:solidFill>
            <a:prstDash val="solid"/>
          </a:ln>
        </p:spPr>
        <p:txBody>
          <a:bodyPr wrap="square" lIns="143438" tIns="118038" rIns="0" bIns="92638"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After</a:t>
            </a:r>
            <a:r>
              <a:rPr lang="en-US" sz="1300" dirty="0">
                <a:solidFill>
                  <a:srgbClr val="1B1838"/>
                </a:solidFill>
                <a:latin typeface="Plus Jakarta Sans" pitchFamily="34" charset="0"/>
                <a:ea typeface="Plus Jakarta Sans" pitchFamily="34" charset="-122"/>
                <a:cs typeface="Plus Jakarta Sans" pitchFamily="34" charset="-120"/>
              </a:rPr>
              <a:t> Edit/Write: </a:t>
            </a:r>
            <a:r>
              <a:rPr lang="en-US" sz="1300" b="1" dirty="0">
                <a:solidFill>
                  <a:srgbClr val="1B1838"/>
                </a:solidFill>
                <a:latin typeface="Plus Jakarta Sans" pitchFamily="34" charset="0"/>
                <a:ea typeface="Plus Jakarta Sans" pitchFamily="34" charset="-122"/>
                <a:cs typeface="Plus Jakarta Sans" pitchFamily="34" charset="-120"/>
              </a:rPr>
              <a:t>format-on-edit.sh</a:t>
            </a:r>
            <a:r>
              <a:rPr lang="en-US" sz="1300" dirty="0">
                <a:solidFill>
                  <a:srgbClr val="1B1838"/>
                </a:solidFill>
                <a:latin typeface="Plus Jakarta Sans" pitchFamily="34" charset="0"/>
                <a:ea typeface="Plus Jakarta Sans" pitchFamily="34" charset="-122"/>
                <a:cs typeface="Plus Jakarta Sans" pitchFamily="34" charset="-120"/>
              </a:rPr>
              <a:t> runs ruff on backend Python</a:t>
            </a:r>
            <a:endParaRPr lang="en-US" sz="1300" dirty="0"/>
          </a:p>
        </p:txBody>
      </p:sp>
      <p:sp>
        <p:nvSpPr>
          <p:cNvPr id="11" name="Text 9"/>
          <p:cNvSpPr/>
          <p:nvPr/>
        </p:nvSpPr>
        <p:spPr>
          <a:xfrm>
            <a:off x="6200775" y="3914775"/>
            <a:ext cx="5175250" cy="539750"/>
          </a:xfrm>
          <a:prstGeom prst="roundRect">
            <a:avLst>
              <a:gd name="adj" fmla="val 22941"/>
            </a:avLst>
          </a:prstGeom>
          <a:solidFill>
            <a:srgbClr val="FFFFFF"/>
          </a:solidFill>
          <a:ln w="6350">
            <a:solidFill>
              <a:srgbClr val="E6E3F2"/>
            </a:solidFill>
            <a:prstDash val="solid"/>
          </a:ln>
        </p:spPr>
        <p:txBody>
          <a:bodyPr wrap="square" lIns="143438" tIns="118038" rIns="0" bIns="92638" rtlCol="0" anchor="t">
            <a:normAutofit/>
          </a:bodyPr>
          <a:lstStyle/>
          <a:p>
            <a:pPr algn="l" indent="0" marL="0">
              <a:lnSpc>
                <a:spcPts val="1820"/>
              </a:lnSpc>
              <a:buNone/>
            </a:pPr>
            <a:r>
              <a:rPr lang="en-US" sz="1300" b="1" dirty="0">
                <a:solidFill>
                  <a:srgbClr val="1B1838"/>
                </a:solidFill>
                <a:latin typeface="Plus Jakarta Sans" pitchFamily="34" charset="0"/>
                <a:ea typeface="Plus Jakarta Sans" pitchFamily="34" charset="-122"/>
                <a:cs typeface="Plus Jakarta Sans" pitchFamily="34" charset="-120"/>
              </a:rPr>
              <a:t>permissions.allow</a:t>
            </a:r>
            <a:r>
              <a:rPr lang="en-US" sz="1300" dirty="0">
                <a:solidFill>
                  <a:srgbClr val="1B1838"/>
                </a:solidFill>
                <a:latin typeface="Plus Jakarta Sans" pitchFamily="34" charset="0"/>
                <a:ea typeface="Plus Jakarta Sans" pitchFamily="34" charset="-122"/>
                <a:cs typeface="Plus Jakarta Sans" pitchFamily="34" charset="-120"/>
              </a:rPr>
              <a:t>: tests, lint and scripts run without a prompt</a:t>
            </a:r>
            <a:endParaRPr lang="en-US" sz="13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.claude/agents/*.md · .claude/settings.json · .claude/hooks/*.sh</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PROMPT HELPERS</a:t>
            </a:r>
            <a:endParaRPr lang="en-US" sz="1200" dirty="0"/>
          </a:p>
        </p:txBody>
      </p:sp>
      <p:sp>
        <p:nvSpPr>
          <p:cNvPr id="3" name="Text 1"/>
          <p:cNvSpPr/>
          <p:nvPr>
            <p:ph type="title"/>
          </p:nvPr>
        </p:nvSpPr>
        <p:spPr>
          <a:xfrm>
            <a:off x="812800" y="11785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Rough idea → good prompt → new session</a:t>
            </a:r>
            <a:endParaRPr lang="en-US" sz="3200" dirty="0"/>
          </a:p>
        </p:txBody>
      </p:sp>
      <p:sp>
        <p:nvSpPr>
          <p:cNvPr id="4" name="Shape 2"/>
          <p:cNvSpPr/>
          <p:nvPr/>
        </p:nvSpPr>
        <p:spPr>
          <a:xfrm>
            <a:off x="815975" y="1882775"/>
            <a:ext cx="3143250" cy="1634490"/>
          </a:xfrm>
          <a:prstGeom prst="roundRect">
            <a:avLst>
              <a:gd name="adj" fmla="val 9130"/>
            </a:avLst>
          </a:prstGeom>
          <a:solidFill>
            <a:srgbClr val="FFFFFF"/>
          </a:solidFill>
          <a:ln w="6350">
            <a:solidFill>
              <a:srgbClr val="E6E3F2"/>
            </a:solidFill>
            <a:prstDash val="solid"/>
          </a:ln>
        </p:spPr>
      </p:sp>
      <p:sp>
        <p:nvSpPr>
          <p:cNvPr id="5" name="Text 3"/>
          <p:cNvSpPr/>
          <p:nvPr/>
        </p:nvSpPr>
        <p:spPr>
          <a:xfrm>
            <a:off x="1021080" y="2087885"/>
            <a:ext cx="28150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1</a:t>
            </a:r>
            <a:endParaRPr lang="en-US" sz="1200" dirty="0"/>
          </a:p>
        </p:txBody>
      </p:sp>
      <p:sp>
        <p:nvSpPr>
          <p:cNvPr id="6" name="Text 4"/>
          <p:cNvSpPr/>
          <p:nvPr/>
        </p:nvSpPr>
        <p:spPr>
          <a:xfrm>
            <a:off x="1021080" y="2364742"/>
            <a:ext cx="28150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838"/>
                </a:solidFill>
                <a:latin typeface="Plus Jakarta Sans" pitchFamily="34" charset="0"/>
                <a:ea typeface="Plus Jakarta Sans" pitchFamily="34" charset="-122"/>
                <a:cs typeface="Plus Jakarta Sans" pitchFamily="34" charset="-120"/>
              </a:rPr>
              <a:t>/prompt-master</a:t>
            </a:r>
            <a:endParaRPr lang="en-US" sz="1600" dirty="0"/>
          </a:p>
        </p:txBody>
      </p:sp>
      <p:sp>
        <p:nvSpPr>
          <p:cNvPr id="7" name="Text 5"/>
          <p:cNvSpPr/>
          <p:nvPr/>
        </p:nvSpPr>
        <p:spPr>
          <a:xfrm>
            <a:off x="1021080" y="2672085"/>
            <a:ext cx="281503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Turns “let’s build a slide lesson” into a full prompt with context, rules and stop points</a:t>
            </a:r>
            <a:endParaRPr lang="en-US" sz="1200" dirty="0"/>
          </a:p>
        </p:txBody>
      </p:sp>
      <p:pic>
        <p:nvPicPr>
          <p:cNvPr id="8" name="Image 0" descr="connector">    </p:cNvPr>
          <p:cNvPicPr>
            <a:picLocks noChangeAspect="1"/>
          </p:cNvPicPr>
          <p:nvPr/>
        </p:nvPicPr>
        <p:blipFill>
          <a:blip r:embed="rId1"/>
          <a:srcRect l="0" r="0" t="0" b="0"/>
          <a:stretch/>
        </p:blipFill>
        <p:spPr>
          <a:xfrm>
            <a:off x="4064000" y="2636527"/>
            <a:ext cx="355600" cy="127000"/>
          </a:xfrm>
          <a:prstGeom prst="rect">
            <a:avLst/>
          </a:prstGeom>
        </p:spPr>
      </p:pic>
      <p:sp>
        <p:nvSpPr>
          <p:cNvPr id="9" name="Shape 6"/>
          <p:cNvSpPr/>
          <p:nvPr/>
        </p:nvSpPr>
        <p:spPr>
          <a:xfrm>
            <a:off x="4524375" y="1989460"/>
            <a:ext cx="3143250" cy="1421130"/>
          </a:xfrm>
          <a:prstGeom prst="roundRect">
            <a:avLst>
              <a:gd name="adj" fmla="val 10500"/>
            </a:avLst>
          </a:prstGeom>
          <a:solidFill>
            <a:srgbClr val="FFFFFF"/>
          </a:solidFill>
          <a:ln w="6350">
            <a:solidFill>
              <a:srgbClr val="E6E3F2"/>
            </a:solidFill>
            <a:prstDash val="solid"/>
          </a:ln>
        </p:spPr>
      </p:sp>
      <p:sp>
        <p:nvSpPr>
          <p:cNvPr id="10" name="Text 7"/>
          <p:cNvSpPr/>
          <p:nvPr/>
        </p:nvSpPr>
        <p:spPr>
          <a:xfrm>
            <a:off x="4729480" y="2194558"/>
            <a:ext cx="28150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2</a:t>
            </a:r>
            <a:endParaRPr lang="en-US" sz="1200" dirty="0"/>
          </a:p>
        </p:txBody>
      </p:sp>
      <p:sp>
        <p:nvSpPr>
          <p:cNvPr id="11" name="Text 8"/>
          <p:cNvSpPr/>
          <p:nvPr/>
        </p:nvSpPr>
        <p:spPr>
          <a:xfrm>
            <a:off x="4729480" y="2471427"/>
            <a:ext cx="28150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838"/>
                </a:solidFill>
                <a:latin typeface="Plus Jakarta Sans" pitchFamily="34" charset="0"/>
                <a:ea typeface="Plus Jakarta Sans" pitchFamily="34" charset="-122"/>
                <a:cs typeface="Plus Jakarta Sans" pitchFamily="34" charset="-120"/>
              </a:rPr>
              <a:t>/copy</a:t>
            </a:r>
            <a:endParaRPr lang="en-US" sz="1600" dirty="0"/>
          </a:p>
        </p:txBody>
      </p:sp>
      <p:sp>
        <p:nvSpPr>
          <p:cNvPr id="12" name="Text 9"/>
          <p:cNvSpPr/>
          <p:nvPr/>
        </p:nvSpPr>
        <p:spPr>
          <a:xfrm>
            <a:off x="4729480" y="2778758"/>
            <a:ext cx="2815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Puts the generated prompt on your clipboard</a:t>
            </a:r>
            <a:endParaRPr lang="en-US" sz="1200" dirty="0"/>
          </a:p>
        </p:txBody>
      </p:sp>
      <p:pic>
        <p:nvPicPr>
          <p:cNvPr id="13" name="Image 1" descr="connector">    </p:cNvPr>
          <p:cNvPicPr>
            <a:picLocks noChangeAspect="1"/>
          </p:cNvPicPr>
          <p:nvPr/>
        </p:nvPicPr>
        <p:blipFill>
          <a:blip r:embed="rId2"/>
          <a:srcRect l="0" r="0" t="0" b="0"/>
          <a:stretch/>
        </p:blipFill>
        <p:spPr>
          <a:xfrm>
            <a:off x="7772400" y="2636527"/>
            <a:ext cx="355600" cy="127000"/>
          </a:xfrm>
          <a:prstGeom prst="rect">
            <a:avLst/>
          </a:prstGeom>
        </p:spPr>
      </p:pic>
      <p:sp>
        <p:nvSpPr>
          <p:cNvPr id="14" name="Shape 10"/>
          <p:cNvSpPr/>
          <p:nvPr/>
        </p:nvSpPr>
        <p:spPr>
          <a:xfrm>
            <a:off x="8232775" y="1989460"/>
            <a:ext cx="3143250" cy="1421130"/>
          </a:xfrm>
          <a:prstGeom prst="roundRect">
            <a:avLst>
              <a:gd name="adj" fmla="val 10500"/>
            </a:avLst>
          </a:prstGeom>
          <a:solidFill>
            <a:srgbClr val="FFFFFF"/>
          </a:solidFill>
          <a:ln w="6350">
            <a:solidFill>
              <a:srgbClr val="E6E3F2"/>
            </a:solidFill>
            <a:prstDash val="solid"/>
          </a:ln>
        </p:spPr>
      </p:sp>
      <p:sp>
        <p:nvSpPr>
          <p:cNvPr id="15" name="Text 11"/>
          <p:cNvSpPr/>
          <p:nvPr/>
        </p:nvSpPr>
        <p:spPr>
          <a:xfrm>
            <a:off x="8437880" y="2194558"/>
            <a:ext cx="28150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Plus Jakarta Sans" pitchFamily="34" charset="0"/>
                <a:ea typeface="Plus Jakarta Sans" pitchFamily="34" charset="-122"/>
                <a:cs typeface="Plus Jakarta Sans" pitchFamily="34" charset="-120"/>
              </a:rPr>
              <a:t>3</a:t>
            </a:r>
            <a:endParaRPr lang="en-US" sz="1200" dirty="0"/>
          </a:p>
        </p:txBody>
      </p:sp>
      <p:sp>
        <p:nvSpPr>
          <p:cNvPr id="16" name="Text 12"/>
          <p:cNvSpPr/>
          <p:nvPr/>
        </p:nvSpPr>
        <p:spPr>
          <a:xfrm>
            <a:off x="8437880" y="2471427"/>
            <a:ext cx="28150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838"/>
                </a:solidFill>
                <a:latin typeface="Plus Jakarta Sans" pitchFamily="34" charset="0"/>
                <a:ea typeface="Plus Jakarta Sans" pitchFamily="34" charset="-122"/>
                <a:cs typeface="Plus Jakarta Sans" pitchFamily="34" charset="-120"/>
              </a:rPr>
              <a:t>/clear + paste</a:t>
            </a:r>
            <a:endParaRPr lang="en-US" sz="1600" dirty="0"/>
          </a:p>
        </p:txBody>
      </p:sp>
      <p:sp>
        <p:nvSpPr>
          <p:cNvPr id="17" name="Text 13"/>
          <p:cNvSpPr/>
          <p:nvPr/>
        </p:nvSpPr>
        <p:spPr>
          <a:xfrm>
            <a:off x="8437880" y="2778758"/>
            <a:ext cx="2815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3"/>
                </a:solidFill>
                <a:latin typeface="Plus Jakarta Sans" pitchFamily="34" charset="0"/>
                <a:ea typeface="Plus Jakarta Sans" pitchFamily="34" charset="-122"/>
                <a:cs typeface="Plus Jakarta Sans" pitchFamily="34" charset="-120"/>
              </a:rPr>
              <a:t>Fresh context, then paste. The prompt says “plan first, stop for approval”</a:t>
            </a:r>
            <a:endParaRPr lang="en-US" sz="1200" dirty="0"/>
          </a:p>
        </p:txBody>
      </p:sp>
      <p:sp>
        <p:nvSpPr>
          <p:cNvPr id="18" name="Text 14"/>
          <p:cNvSpPr/>
          <p:nvPr/>
        </p:nvSpPr>
        <p:spPr>
          <a:xfrm>
            <a:off x="812800" y="37744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1838"/>
                </a:solidFill>
                <a:latin typeface="Plus Jakarta Sans" pitchFamily="34" charset="0"/>
                <a:ea typeface="Plus Jakarta Sans" pitchFamily="34" charset="-122"/>
                <a:cs typeface="Plus Jakarta Sans" pitchFamily="34" charset="-120"/>
              </a:rPr>
              <a:t>Why it works:</a:t>
            </a:r>
            <a:r>
              <a:rPr lang="en-US" sz="1500" dirty="0">
                <a:solidFill>
                  <a:srgbClr val="1B1838"/>
                </a:solidFill>
                <a:latin typeface="Plus Jakarta Sans" pitchFamily="34" charset="0"/>
                <a:ea typeface="Plus Jakarta Sans" pitchFamily="34" charset="-122"/>
                <a:cs typeface="Plus Jakarta Sans" pitchFamily="34" charset="-120"/>
              </a:rPr>
              <a:t> the agent gets everything in turn one, including when to stop and ask.</a:t>
            </a:r>
            <a:endParaRPr lang="en-US" sz="1500" dirty="0"/>
          </a:p>
        </p:txBody>
      </p:sp>
      <p:sp>
        <p:nvSpPr>
          <p:cNvPr id="19"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this lesson was planned this way · Lesson 15 (writing prompts) · /prompt-master is a personal skill in ~/.claude/skills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3 · OTHER AI TOOLS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Same ideas, different file names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1663700"/>
        </p:xfrm>
        <a:graphic>
          <a:graphicData uri="http://schemas.openxmlformats.org/drawingml/2006/table">
            <a:tbl>
              <a:tblPr/>
              <a:tblGrid>
                <a:gridCol w="1899666"/>
                <a:gridCol w="2321814"/>
                <a:gridCol w="2321814"/>
                <a:gridCol w="4010406"/>
              </a:tblGrid>
              <a:tr h="332740">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Idea</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Claude Code</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Cursor</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1838"/>
                          </a:solidFill>
                          <a:latin typeface="Plus Jakarta Sans" pitchFamily="34" charset="0"/>
                          <a:ea typeface="Plus Jakarta Sans" pitchFamily="34" charset="-122"/>
                          <a:cs typeface="Plus Jakarta Sans" pitchFamily="34" charset="-120"/>
                        </a:rPr>
                        <a:t>GitHub Copilot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Project rules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CLAUDE.md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.cursor/rules/*.mdc</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.github/copilot-instructions.md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Rules for some paths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CLAUDE.md per folder</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rule set to specific files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.github/instructions/*.instructions.md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Shared standard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reads CLAUDE.md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AGENTS.md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AGENTS.md (or CLAUDE.md)</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Saved prompts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.claude/commands, skills</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B1838"/>
                          </a:solidFill>
                          <a:latin typeface="Plus Jakarta Sans" pitchFamily="34" charset="0"/>
                          <a:ea typeface="Plus Jakarta Sans" pitchFamily="34" charset="-122"/>
                          <a:cs typeface="Plus Jakarta Sans" pitchFamily="34" charset="-120"/>
                        </a:rPr>
                        <a:t>/explain · /fix · /tests in chat</a:t>
                      </a:r>
                      <a:endParaRPr lang="en-US" sz="1200" dirty="0">
                        <a:latin typeface="Plus Jakarta Sans" charset="0"/>
                        <a:ea typeface="Plus Jakarta Sans" charset="0"/>
                        <a:cs typeface="Plus Jakarta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3657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3"/>
                </a:solidFill>
                <a:latin typeface="Plus Jakarta Sans" pitchFamily="34" charset="0"/>
                <a:ea typeface="Plus Jakarta Sans" pitchFamily="34" charset="-122"/>
                <a:cs typeface="Plus Jakarta Sans" pitchFamily="34" charset="-120"/>
              </a:rPr>
              <a:t>Learn the idea once: </a:t>
            </a:r>
            <a:r>
              <a:rPr lang="en-US" sz="1400" b="1" dirty="0">
                <a:solidFill>
                  <a:srgbClr val="1B1838"/>
                </a:solidFill>
                <a:latin typeface="Plus Jakarta Sans" pitchFamily="34" charset="0"/>
                <a:ea typeface="Plus Jakarta Sans" pitchFamily="34" charset="-122"/>
                <a:cs typeface="Plus Jakarta Sans" pitchFamily="34" charset="-120"/>
              </a:rPr>
              <a:t>written rules + reusable prompts + checks</a:t>
            </a:r>
            <a:r>
              <a:rPr lang="en-US" sz="1400" dirty="0">
                <a:solidFill>
                  <a:srgbClr val="4A4763"/>
                </a:solidFill>
                <a:latin typeface="Plus Jakarta Sans" pitchFamily="34" charset="0"/>
                <a:ea typeface="Plus Jakarta Sans" pitchFamily="34" charset="-122"/>
                <a:cs typeface="Plus Jakarta Sans" pitchFamily="34" charset="-120"/>
              </a:rPr>
              <a:t>. The file names change per tool.</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Sources: cursor.com/docs/context/rules · docs.github.com (Copilot custom instructions, cheat sheet) · checked 2026-10-24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4BDB"/>
                </a:solidFill>
                <a:latin typeface="Plus Jakarta Sans" pitchFamily="34" charset="0"/>
                <a:ea typeface="Plus Jakarta Sans" pitchFamily="34" charset="-122"/>
                <a:cs typeface="Plus Jakarta Sans" pitchFamily="34" charset="-120"/>
              </a:rPr>
              <a:t>PART 4 · WRAP-UP</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38"/>
                </a:solidFill>
                <a:latin typeface="Plus Jakarta Sans" pitchFamily="34" charset="0"/>
                <a:ea typeface="Plus Jakarta Sans" pitchFamily="34" charset="-122"/>
                <a:cs typeface="Plus Jakarta Sans" pitchFamily="34" charset="-120"/>
              </a:rPr>
              <a:t>Commands to remember</a:t>
            </a:r>
            <a:endParaRPr lang="en-US" sz="3200" dirty="0"/>
          </a:p>
        </p:txBody>
      </p:sp>
      <p:sp>
        <p:nvSpPr>
          <p:cNvPr id="4" name="Shape 2"/>
          <p:cNvSpPr/>
          <p:nvPr/>
        </p:nvSpPr>
        <p:spPr>
          <a:xfrm>
            <a:off x="812800" y="1727200"/>
            <a:ext cx="6832600" cy="2514600"/>
          </a:xfrm>
          <a:prstGeom prst="roundRect">
            <a:avLst>
              <a:gd name="adj" fmla="val 6061"/>
            </a:avLst>
          </a:prstGeom>
          <a:solidFill>
            <a:srgbClr val="1D1A39"/>
          </a:solidFill>
          <a:ln/>
        </p:spPr>
      </p:sp>
      <p:sp>
        <p:nvSpPr>
          <p:cNvPr id="5" name="Text 3"/>
          <p:cNvSpPr/>
          <p:nvPr/>
        </p:nvSpPr>
        <p:spPr>
          <a:xfrm>
            <a:off x="1041400" y="19050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daily loop (run from the repo root)</a:t>
            </a:r>
            <a:endParaRPr lang="en-US" sz="1200" dirty="0"/>
          </a:p>
        </p:txBody>
      </p:sp>
      <p:sp>
        <p:nvSpPr>
          <p:cNvPr id="6" name="Text 4"/>
          <p:cNvSpPr/>
          <p:nvPr/>
        </p:nvSpPr>
        <p:spPr>
          <a:xfrm>
            <a:off x="1041400" y="21463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scripts/dev.sh </a:t>
            </a:r>
            <a:r>
              <a:rPr lang="en-US" sz="1200" dirty="0">
                <a:solidFill>
                  <a:srgbClr val="8F8AB8"/>
                </a:solidFill>
                <a:latin typeface="JetBrains Mono" pitchFamily="49" charset="0"/>
                <a:ea typeface="JetBrains Mono" pitchFamily="49" charset="-122"/>
                <a:cs typeface="JetBrains Mono" pitchFamily="49" charset="-120"/>
              </a:rPr>
              <a:t># DB + API + Vite</a:t>
            </a:r>
            <a:endParaRPr lang="en-US" sz="1200" dirty="0"/>
          </a:p>
        </p:txBody>
      </p:sp>
      <p:sp>
        <p:nvSpPr>
          <p:cNvPr id="7" name="Text 5"/>
          <p:cNvSpPr/>
          <p:nvPr/>
        </p:nvSpPr>
        <p:spPr>
          <a:xfrm>
            <a:off x="1041400" y="23876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scripts/check.sh </a:t>
            </a:r>
            <a:r>
              <a:rPr lang="en-US" sz="1200" dirty="0">
                <a:solidFill>
                  <a:srgbClr val="8F8AB8"/>
                </a:solidFill>
                <a:latin typeface="JetBrains Mono" pitchFamily="49" charset="0"/>
                <a:ea typeface="JetBrains Mono" pitchFamily="49" charset="-122"/>
                <a:cs typeface="JetBrains Mono" pitchFamily="49" charset="-120"/>
              </a:rPr>
              <a:t># every check</a:t>
            </a:r>
            <a:endParaRPr lang="en-US" sz="1200" dirty="0"/>
          </a:p>
        </p:txBody>
      </p:sp>
      <p:sp>
        <p:nvSpPr>
          <p:cNvPr id="8" name="Text 6"/>
          <p:cNvSpPr/>
          <p:nvPr/>
        </p:nvSpPr>
        <p:spPr>
          <a:xfrm>
            <a:off x="1041400" y="26289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scripts/e2e.sh </a:t>
            </a:r>
            <a:r>
              <a:rPr lang="en-US" sz="1200" dirty="0">
                <a:solidFill>
                  <a:srgbClr val="8F8AB8"/>
                </a:solidFill>
                <a:latin typeface="JetBrains Mono" pitchFamily="49" charset="0"/>
                <a:ea typeface="JetBrains Mono" pitchFamily="49" charset="-122"/>
                <a:cs typeface="JetBrains Mono" pitchFamily="49" charset="-120"/>
              </a:rPr>
              <a:t># Playwright</a:t>
            </a:r>
            <a:endParaRPr lang="en-US" sz="1200" dirty="0"/>
          </a:p>
        </p:txBody>
      </p:sp>
      <p:sp>
        <p:nvSpPr>
          <p:cNvPr id="9" name="Text 7"/>
          <p:cNvSpPr/>
          <p:nvPr/>
        </p:nvSpPr>
        <p:spPr>
          <a:xfrm>
            <a:off x="1041400" y="28702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before adding a package</a:t>
            </a:r>
            <a:endParaRPr lang="en-US" sz="1200" dirty="0"/>
          </a:p>
        </p:txBody>
      </p:sp>
      <p:sp>
        <p:nvSpPr>
          <p:cNvPr id="10" name="Text 8"/>
          <p:cNvSpPr/>
          <p:nvPr/>
        </p:nvSpPr>
        <p:spPr>
          <a:xfrm>
            <a:off x="1041400" y="31115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npm view &lt;pkg&gt; time --json</a:t>
            </a:r>
            <a:endParaRPr lang="en-US" sz="1200" dirty="0"/>
          </a:p>
        </p:txBody>
      </p:sp>
      <p:sp>
        <p:nvSpPr>
          <p:cNvPr id="11" name="Text 9"/>
          <p:cNvSpPr/>
          <p:nvPr/>
        </p:nvSpPr>
        <p:spPr>
          <a:xfrm>
            <a:off x="1041400" y="33528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npm install --save-exact &lt;pkg&gt;@&lt;ver&gt;</a:t>
            </a:r>
            <a:endParaRPr lang="en-US" sz="1200" dirty="0"/>
          </a:p>
        </p:txBody>
      </p:sp>
      <p:sp>
        <p:nvSpPr>
          <p:cNvPr id="12" name="Text 10"/>
          <p:cNvSpPr/>
          <p:nvPr/>
        </p:nvSpPr>
        <p:spPr>
          <a:xfrm>
            <a:off x="1041400" y="35941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8AB8"/>
                </a:solidFill>
                <a:latin typeface="JetBrains Mono" pitchFamily="49" charset="0"/>
                <a:ea typeface="JetBrains Mono" pitchFamily="49" charset="-122"/>
                <a:cs typeface="JetBrains Mono" pitchFamily="49" charset="-120"/>
              </a:rPr>
              <a:t># schema safety</a:t>
            </a:r>
            <a:endParaRPr lang="en-US" sz="1200" dirty="0"/>
          </a:p>
        </p:txBody>
      </p:sp>
      <p:sp>
        <p:nvSpPr>
          <p:cNvPr id="13" name="Text 11"/>
          <p:cNvSpPr/>
          <p:nvPr/>
        </p:nvSpPr>
        <p:spPr>
          <a:xfrm>
            <a:off x="1041400" y="3835400"/>
            <a:ext cx="656666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4F5"/>
                </a:solidFill>
                <a:latin typeface="JetBrains Mono" pitchFamily="49" charset="0"/>
                <a:ea typeface="JetBrains Mono" pitchFamily="49" charset="-122"/>
                <a:cs typeface="JetBrains Mono" pitchFamily="49" charset="-120"/>
              </a:rPr>
              <a:t>uv run python manage.py makemigrations --check --dry-run</a:t>
            </a:r>
            <a:endParaRPr lang="en-US" sz="1200" dirty="0"/>
          </a:p>
        </p:txBody>
      </p:sp>
      <p:sp>
        <p:nvSpPr>
          <p:cNvPr id="14" name="Shape 12"/>
          <p:cNvSpPr/>
          <p:nvPr/>
        </p:nvSpPr>
        <p:spPr>
          <a:xfrm>
            <a:off x="7826375" y="1730375"/>
            <a:ext cx="3549650" cy="982345"/>
          </a:xfrm>
          <a:prstGeom prst="roundRect">
            <a:avLst>
              <a:gd name="adj" fmla="val 12605"/>
            </a:avLst>
          </a:prstGeom>
          <a:solidFill>
            <a:srgbClr val="FFFFFF"/>
          </a:solidFill>
          <a:ln w="6350">
            <a:solidFill>
              <a:srgbClr val="E6E3F2"/>
            </a:solidFill>
            <a:prstDash val="solid"/>
          </a:ln>
        </p:spPr>
      </p:sp>
      <p:sp>
        <p:nvSpPr>
          <p:cNvPr id="15" name="Text 13"/>
          <p:cNvSpPr/>
          <p:nvPr/>
        </p:nvSpPr>
        <p:spPr>
          <a:xfrm>
            <a:off x="8006080" y="1884685"/>
            <a:ext cx="32859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38"/>
                </a:solidFill>
                <a:latin typeface="Plus Jakarta Sans" pitchFamily="34" charset="0"/>
                <a:ea typeface="Plus Jakarta Sans" pitchFamily="34" charset="-122"/>
                <a:cs typeface="Plus Jakarta Sans" pitchFamily="34" charset="-120"/>
              </a:rPr>
              <a:t>In Claude Code</a:t>
            </a:r>
            <a:endParaRPr lang="en-US" sz="1400" dirty="0"/>
          </a:p>
        </p:txBody>
      </p:sp>
      <p:sp>
        <p:nvSpPr>
          <p:cNvPr id="16" name="Text 14"/>
          <p:cNvSpPr/>
          <p:nvPr/>
        </p:nvSpPr>
        <p:spPr>
          <a:xfrm>
            <a:off x="8006080" y="2098042"/>
            <a:ext cx="3285947"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4763"/>
                </a:solidFill>
                <a:latin typeface="Plus Jakarta Sans" pitchFamily="34" charset="0"/>
                <a:ea typeface="Plus Jakarta Sans" pitchFamily="34" charset="-122"/>
                <a:cs typeface="Plus Jakarta Sans" pitchFamily="34" charset="-120"/>
              </a:rPr>
              <a:t>/dev · /check · /review · /commit</a:t>
            </a:r>
            <a:endParaRPr lang="en-US" sz="1250" dirty="0"/>
          </a:p>
          <a:p>
            <a:pPr algn="l" indent="0" marL="0">
              <a:lnSpc>
                <a:spcPts val="1813"/>
              </a:lnSpc>
              <a:buNone/>
            </a:pPr>
            <a:r>
              <a:rPr lang="en-US" sz="1250" dirty="0">
                <a:solidFill>
                  <a:srgbClr val="4A4763"/>
                </a:solidFill>
                <a:latin typeface="Plus Jakarta Sans" pitchFamily="34" charset="0"/>
                <a:ea typeface="Plus Jakarta Sans" pitchFamily="34" charset="-122"/>
                <a:cs typeface="Plus Jakarta Sans" pitchFamily="34" charset="-120"/>
              </a:rPr>
              <a:t>/copy · /clear · /compact · /rewind</a:t>
            </a:r>
            <a:endParaRPr lang="en-US" sz="1250" dirty="0"/>
          </a:p>
        </p:txBody>
      </p:sp>
      <p:sp>
        <p:nvSpPr>
          <p:cNvPr id="17" name="Shape 15"/>
          <p:cNvSpPr/>
          <p:nvPr/>
        </p:nvSpPr>
        <p:spPr>
          <a:xfrm>
            <a:off x="7826375" y="2833377"/>
            <a:ext cx="3549650" cy="1184910"/>
          </a:xfrm>
          <a:prstGeom prst="roundRect">
            <a:avLst>
              <a:gd name="adj" fmla="val 10450"/>
            </a:avLst>
          </a:prstGeom>
          <a:solidFill>
            <a:srgbClr val="FFF5F5"/>
          </a:solidFill>
          <a:ln w="6350">
            <a:solidFill>
              <a:srgbClr val="F5C9C9"/>
            </a:solidFill>
            <a:prstDash val="solid"/>
          </a:ln>
        </p:spPr>
      </p:sp>
      <p:sp>
        <p:nvSpPr>
          <p:cNvPr id="18" name="Text 16"/>
          <p:cNvSpPr/>
          <p:nvPr/>
        </p:nvSpPr>
        <p:spPr>
          <a:xfrm>
            <a:off x="8006080" y="2987675"/>
            <a:ext cx="32859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B1C1C"/>
                </a:solidFill>
                <a:latin typeface="Plus Jakarta Sans" pitchFamily="34" charset="0"/>
                <a:ea typeface="Plus Jakarta Sans" pitchFamily="34" charset="-122"/>
                <a:cs typeface="Plus Jakarta Sans" pitchFamily="34" charset="-120"/>
              </a:rPr>
              <a:t>Ask first: destructive</a:t>
            </a:r>
            <a:endParaRPr lang="en-US" sz="1400" dirty="0"/>
          </a:p>
        </p:txBody>
      </p:sp>
      <p:sp>
        <p:nvSpPr>
          <p:cNvPr id="19" name="Text 17"/>
          <p:cNvSpPr/>
          <p:nvPr/>
        </p:nvSpPr>
        <p:spPr>
          <a:xfrm>
            <a:off x="8006080" y="3201033"/>
            <a:ext cx="3285947"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763"/>
                </a:solidFill>
                <a:latin typeface="Plus Jakarta Sans" pitchFamily="34" charset="0"/>
                <a:ea typeface="Plus Jakarta Sans" pitchFamily="34" charset="-122"/>
                <a:cs typeface="Plus Jakarta Sans" pitchFamily="34" charset="-120"/>
              </a:rPr>
              <a:t>seed_demo --reset (deletes demo tasks) · docker compose down -v (deletes the dev DB volume) · git push</a:t>
            </a:r>
            <a:endParaRPr lang="en-US" sz="12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7A0"/>
                </a:solidFill>
                <a:latin typeface="Plus Jakarta Sans" pitchFamily="34" charset="0"/>
                <a:ea typeface="Plus Jakarta Sans" pitchFamily="34" charset="-122"/>
                <a:cs typeface="Plus Jakarta Sans" pitchFamily="34" charset="-120"/>
              </a:rPr>
              <a:t>Source: scripts/ · CLAUDE.md (Commands, Never) · docker-compose.yml (pgdata volume)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338C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4338CA"/>
              </a:gs>
              <a:gs pos="55000">
                <a:srgbClr val="6D28D9"/>
              </a:gs>
              <a:gs pos="100000">
                <a:srgbClr val="A21CAF"/>
              </a:gs>
            </a:gsLst>
            <a:lin ang="2700000" scaled="0"/>
          </a:gradFill>
          <a:ln/>
        </p:spPr>
      </p:sp>
      <p:sp>
        <p:nvSpPr>
          <p:cNvPr id="3" name="Text 1"/>
          <p:cNvSpPr/>
          <p:nvPr>
            <p:ph type="title"/>
          </p:nvPr>
        </p:nvSpPr>
        <p:spPr>
          <a:xfrm>
            <a:off x="812800" y="1696727"/>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BFAFF"/>
                </a:solidFill>
                <a:latin typeface="Plus Jakarta Sans" pitchFamily="34" charset="0"/>
                <a:ea typeface="Plus Jakarta Sans" pitchFamily="34" charset="-122"/>
                <a:cs typeface="Plus Jakarta Sans" pitchFamily="34" charset="-120"/>
              </a:rPr>
              <a:t>Thank you</a:t>
            </a:r>
            <a:endParaRPr lang="en-US" sz="8000" dirty="0"/>
          </a:p>
        </p:txBody>
      </p:sp>
      <p:sp>
        <p:nvSpPr>
          <p:cNvPr id="4" name="Text 2"/>
          <p:cNvSpPr/>
          <p:nvPr/>
        </p:nvSpPr>
        <p:spPr>
          <a:xfrm>
            <a:off x="815975" y="3020702"/>
            <a:ext cx="3067050" cy="1477010"/>
          </a:xfrm>
          <a:prstGeom prst="roundRect">
            <a:avLst>
              <a:gd name="adj" fmla="val 10103"/>
            </a:avLst>
          </a:prstGeom>
          <a:solidFill>
            <a:srgbClr val="FFFFFF">
              <a:alpha val="12000"/>
            </a:srgbClr>
          </a:solidFill>
          <a:ln w="6350">
            <a:solidFill>
              <a:srgbClr val="FFFFFF">
                <a:alpha val="25000"/>
              </a:srgbClr>
            </a:solidFill>
            <a:prstDash val="solid"/>
          </a:ln>
        </p:spPr>
        <p:txBody>
          <a:bodyPr wrap="square" lIns="186799" tIns="161398" rIns="108617" bIns="135999" rtlCol="0" anchor="t">
            <a:normAutofit/>
          </a:bodyPr>
          <a:lstStyle/>
          <a:p>
            <a:pPr algn="l" indent="0" marL="0">
              <a:lnSpc>
                <a:spcPts val="2100"/>
              </a:lnSpc>
              <a:buNone/>
            </a:pPr>
            <a:r>
              <a:rPr lang="en-US" sz="1500" b="1" dirty="0">
                <a:solidFill>
                  <a:srgbClr val="F3F1FF"/>
                </a:solidFill>
                <a:latin typeface="Plus Jakarta Sans" pitchFamily="34" charset="0"/>
                <a:ea typeface="Plus Jakarta Sans" pitchFamily="34" charset="-122"/>
                <a:cs typeface="Plus Jakarta Sans" pitchFamily="34" charset="-120"/>
              </a:rPr>
              <a:t>Write the rules down.</a:t>
            </a:r>
            <a:r>
              <a:rPr lang="en-US" sz="1500" dirty="0">
                <a:solidFill>
                  <a:srgbClr val="F3F1FF"/>
                </a:solidFill>
                <a:latin typeface="Plus Jakarta Sans" pitchFamily="34" charset="0"/>
                <a:ea typeface="Plus Jakarta Sans" pitchFamily="34" charset="-122"/>
                <a:cs typeface="Plus Jakarta Sans" pitchFamily="34" charset="-120"/>
              </a:rPr>
              <a:t> CLAUDE.md and a design system make AI output consistent.</a:t>
            </a:r>
            <a:endParaRPr lang="en-US" sz="1500" dirty="0"/>
          </a:p>
        </p:txBody>
      </p:sp>
      <p:sp>
        <p:nvSpPr>
          <p:cNvPr id="5" name="Text 3"/>
          <p:cNvSpPr/>
          <p:nvPr/>
        </p:nvSpPr>
        <p:spPr>
          <a:xfrm>
            <a:off x="4041775" y="3020702"/>
            <a:ext cx="3067050" cy="1477010"/>
          </a:xfrm>
          <a:prstGeom prst="roundRect">
            <a:avLst>
              <a:gd name="adj" fmla="val 10103"/>
            </a:avLst>
          </a:prstGeom>
          <a:solidFill>
            <a:srgbClr val="FFFFFF">
              <a:alpha val="12000"/>
            </a:srgbClr>
          </a:solidFill>
          <a:ln w="6350">
            <a:solidFill>
              <a:srgbClr val="FFFFFF">
                <a:alpha val="25000"/>
              </a:srgbClr>
            </a:solidFill>
            <a:prstDash val="solid"/>
          </a:ln>
        </p:spPr>
        <p:txBody>
          <a:bodyPr wrap="square" lIns="186798" tIns="161398" rIns="108617" bIns="161398" rtlCol="0" anchor="t">
            <a:normAutofit/>
          </a:bodyPr>
          <a:lstStyle/>
          <a:p>
            <a:pPr algn="l" indent="0" marL="0">
              <a:lnSpc>
                <a:spcPts val="2100"/>
              </a:lnSpc>
              <a:buNone/>
            </a:pPr>
            <a:r>
              <a:rPr lang="en-US" sz="1500" b="1" dirty="0">
                <a:solidFill>
                  <a:srgbClr val="F3F1FF"/>
                </a:solidFill>
                <a:latin typeface="Plus Jakarta Sans" pitchFamily="34" charset="0"/>
                <a:ea typeface="Plus Jakarta Sans" pitchFamily="34" charset="-122"/>
                <a:cs typeface="Plus Jakarta Sans" pitchFamily="34" charset="-120"/>
              </a:rPr>
              <a:t>Plan first, then build.</a:t>
            </a:r>
            <a:r>
              <a:rPr lang="en-US" sz="1500" dirty="0">
                <a:solidFill>
                  <a:srgbClr val="F3F1FF"/>
                </a:solidFill>
                <a:latin typeface="Plus Jakarta Sans" pitchFamily="34" charset="0"/>
                <a:ea typeface="Plus Jakarta Sans" pitchFamily="34" charset="-122"/>
                <a:cs typeface="Plus Jakarta Sans" pitchFamily="34" charset="-120"/>
              </a:rPr>
              <a:t> Agree the target before the AI writes code.</a:t>
            </a:r>
            <a:endParaRPr lang="en-US" sz="1500" dirty="0"/>
          </a:p>
        </p:txBody>
      </p:sp>
      <p:sp>
        <p:nvSpPr>
          <p:cNvPr id="6" name="Text 4"/>
          <p:cNvSpPr/>
          <p:nvPr/>
        </p:nvSpPr>
        <p:spPr>
          <a:xfrm>
            <a:off x="7267575" y="3020702"/>
            <a:ext cx="3067050" cy="1477010"/>
          </a:xfrm>
          <a:prstGeom prst="roundRect">
            <a:avLst>
              <a:gd name="adj" fmla="val 10103"/>
            </a:avLst>
          </a:prstGeom>
          <a:solidFill>
            <a:srgbClr val="FFFFFF">
              <a:alpha val="12000"/>
            </a:srgbClr>
          </a:solidFill>
          <a:ln w="6350">
            <a:solidFill>
              <a:srgbClr val="FFFFFF">
                <a:alpha val="25000"/>
              </a:srgbClr>
            </a:solidFill>
            <a:prstDash val="solid"/>
          </a:ln>
        </p:spPr>
        <p:txBody>
          <a:bodyPr wrap="square" lIns="186799" tIns="161398" rIns="108617" bIns="161398" rtlCol="0" anchor="t">
            <a:normAutofit/>
          </a:bodyPr>
          <a:lstStyle/>
          <a:p>
            <a:pPr algn="l" indent="0" marL="0">
              <a:lnSpc>
                <a:spcPts val="2100"/>
              </a:lnSpc>
              <a:buNone/>
            </a:pPr>
            <a:r>
              <a:rPr lang="en-US" sz="1500" b="1" dirty="0">
                <a:solidFill>
                  <a:srgbClr val="F3F1FF"/>
                </a:solidFill>
                <a:latin typeface="Plus Jakarta Sans" pitchFamily="34" charset="0"/>
                <a:ea typeface="Plus Jakarta Sans" pitchFamily="34" charset="-122"/>
                <a:cs typeface="Plus Jakarta Sans" pitchFamily="34" charset="-120"/>
              </a:rPr>
              <a:t>Verify in the real app.</a:t>
            </a:r>
            <a:r>
              <a:rPr lang="en-US" sz="1500" dirty="0">
                <a:solidFill>
                  <a:srgbClr val="F3F1FF"/>
                </a:solidFill>
                <a:latin typeface="Plus Jakarta Sans" pitchFamily="34" charset="0"/>
                <a:ea typeface="Plus Jakarta Sans" pitchFamily="34" charset="-122"/>
                <a:cs typeface="Plus Jakarta Sans" pitchFamily="34" charset="-120"/>
              </a:rPr>
              <a:t> Tests pass; screenshots catch the rest.</a:t>
            </a:r>
            <a:endParaRPr lang="en-US" sz="1500" dirty="0"/>
          </a:p>
        </p:txBody>
      </p:sp>
      <p:sp>
        <p:nvSpPr>
          <p:cNvPr id="7" name="Text 5"/>
          <p:cNvSpPr/>
          <p:nvPr/>
        </p:nvSpPr>
        <p:spPr>
          <a:xfrm>
            <a:off x="812800" y="4805685"/>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DE9FF"/>
                </a:solidFill>
                <a:latin typeface="Plus Jakarta Sans" pitchFamily="34" charset="0"/>
                <a:ea typeface="Plus Jakarta Sans" pitchFamily="34" charset="-122"/>
                <a:cs typeface="Plus Jakarta Sans" pitchFamily="34" charset="-120"/>
              </a:rPr>
              <a:t>Questions?</a:t>
            </a:r>
            <a:endParaRPr lang="en-US" sz="2000" dirty="0"/>
          </a:p>
        </p:txBody>
      </p:sp>
    </p:spTree>
  </p:cSld>
  <p:clrMapOvr>
    <a:masterClrMapping/>
  </p:clrMapOvr>
</p:sld>
</file>

<file path=ppt/theme/theme1.xml><?xml version="1.0" encoding="utf-8"?>
<a:theme xmlns:a="http://schemas.openxmlformats.org/drawingml/2006/main" name="Building TaskFlow with AI">
  <a:themeElements>
    <a:clrScheme name="Building TaskFlow with AI">
      <a:dk1>
        <a:srgbClr val="1B1838"/>
      </a:dk1>
      <a:lt1>
        <a:srgbClr val="FAFAF7"/>
      </a:lt1>
      <a:dk2>
        <a:srgbClr val="535168"/>
      </a:dk2>
      <a:lt2>
        <a:srgbClr val="E4E3E4"/>
      </a:lt2>
      <a:accent1>
        <a:srgbClr val="5B4BDB"/>
      </a:accent1>
      <a:accent2>
        <a:srgbClr val="8F8AB8"/>
      </a:accent2>
      <a:accent3>
        <a:srgbClr val="A21CAF"/>
      </a:accent3>
      <a:accent4>
        <a:srgbClr val="4338CA"/>
      </a:accent4>
      <a:accent5>
        <a:srgbClr val="6D28D9"/>
      </a:accent5>
      <a:accent6>
        <a:srgbClr val="2E7D5B"/>
      </a:accent6>
      <a:hlink>
        <a:srgbClr val="0563C1"/>
      </a:hlink>
      <a:folHlink>
        <a:srgbClr val="954F72"/>
      </a:folHlink>
    </a:clrScheme>
    <a:fontScheme name="Building TaskFlow with AI">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TaskFlow with AI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Plus Jakarta Sans
Copyright 2020 The Plus Jakarta Sans Project Authors (https://github.com/tokotype/PlusJakartaSans)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2026-10-24T13:59:34Z</dcterms:created>
  <dcterms:modified xsi:type="dcterms:W3CDTF">2026-10-24T13:59:34Z</dcterms:modified>
</cp:coreProperties>
</file>